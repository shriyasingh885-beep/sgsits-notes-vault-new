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7" r:id="rId2"/>
    <p:sldId id="257" r:id="rId3"/>
    <p:sldId id="271" r:id="rId4"/>
    <p:sldId id="258" r:id="rId5"/>
    <p:sldId id="270" r:id="rId6"/>
    <p:sldId id="259" r:id="rId7"/>
    <p:sldId id="260" r:id="rId8"/>
    <p:sldId id="261" r:id="rId9"/>
    <p:sldId id="265" r:id="rId10"/>
    <p:sldId id="266" r:id="rId11"/>
    <p:sldId id="262" r:id="rId12"/>
    <p:sldId id="263" r:id="rId13"/>
    <p:sldId id="264" r:id="rId14"/>
    <p:sldId id="274" r:id="rId15"/>
    <p:sldId id="276" r:id="rId16"/>
    <p:sldId id="277" r:id="rId17"/>
    <p:sldId id="278" r:id="rId18"/>
    <p:sldId id="279" r:id="rId19"/>
    <p:sldId id="280" r:id="rId20"/>
    <p:sldId id="275" r:id="rId21"/>
    <p:sldId id="269"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3" d="100"/>
          <a:sy n="83" d="100"/>
        </p:scale>
        <p:origin x="-1426" y="-72"/>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1/5/2022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1/5/2022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1/5/2022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1/5/2022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conserve-energy-future.com/effects-solutions-cigarette-litter-environment.php" TargetMode="External"/><Relationship Id="rId2" Type="http://schemas.openxmlformats.org/officeDocument/2006/relationships/hyperlink" Target="https://www.conserve-energy-future.com/effects-oil-drilling-ocean-environment.php"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www.conserve-energy-future.com/waste-management-and-waste-disposal-methods.php" TargetMode="Externa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hyperlink" Target="https://www.conserve-energy-future.com/various-causes-of-oil-spill.php"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www.conserve-energy-future.com/effects-oil-drilling-ocean-environment.php"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www.conserve-energy-future.com/30-facts-about-endangered-species.php"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www.conserve-energy-future.com/various-causes-of-oil-spill.php"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www.conserve-energy-future.com/causes-effects-mining-human-health-environment.php"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www.conserve-energy-future.com/causes-and-effects-of-environmental-pollution.php" TargetMode="External"/><Relationship Id="rId2" Type="http://schemas.openxmlformats.org/officeDocument/2006/relationships/hyperlink" Target="https://www.conserve-energy-future.com/causes-effects-solutions-of-landfills.php"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www.conserve-energy-future.com/what-is-biodiesel.php" TargetMode="External"/><Relationship Id="rId2" Type="http://schemas.openxmlformats.org/officeDocument/2006/relationships/hyperlink" Target="https://www.conserve-energy-future.com/greenhouse-gases.php"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www.conserve-energy-future.com/causes-and-effects-of-environmental-pollution.php" TargetMode="External"/><Relationship Id="rId2" Type="http://schemas.openxmlformats.org/officeDocument/2006/relationships/hyperlink" Target="https://www.conserve-energy-future.com/causes-effects-solutions-of-landfills.php"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www.conserve-energy-future.com/causes-effects-solutions-of-land-pollution.php"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www.conserve-energy-future.com/advantages_disadvantages_biodiesel.php"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457200"/>
            <a:ext cx="7848600" cy="5867399"/>
          </a:xfrm>
        </p:spPr>
        <p:txBody>
          <a:bodyPr>
            <a:normAutofit/>
          </a:bodyPr>
          <a:lstStyle/>
          <a:p>
            <a:r>
              <a:rPr lang="en-US" sz="9600" dirty="0" smtClean="0">
                <a:solidFill>
                  <a:srgbClr val="0070C0"/>
                </a:solidFill>
                <a:latin typeface="Algerian" pitchFamily="82" charset="0"/>
              </a:rPr>
              <a:t>OIL WASTE DISPOSAL METHODS</a:t>
            </a:r>
            <a:endParaRPr lang="en-US" sz="9600" dirty="0">
              <a:solidFill>
                <a:srgbClr val="0070C0"/>
              </a:solidFill>
              <a:latin typeface="Algerian" pitchFamily="82" charset="0"/>
            </a:endParaRPr>
          </a:p>
        </p:txBody>
      </p:sp>
      <p:sp>
        <p:nvSpPr>
          <p:cNvPr id="3" name="Subtitle 2"/>
          <p:cNvSpPr>
            <a:spLocks noGrp="1"/>
          </p:cNvSpPr>
          <p:nvPr>
            <p:ph type="subTitle" idx="1"/>
          </p:nvPr>
        </p:nvSpPr>
        <p:spPr>
          <a:xfrm flipV="1">
            <a:off x="7696200" y="5638800"/>
            <a:ext cx="76200" cy="228600"/>
          </a:xfrm>
        </p:spPr>
        <p:txBody>
          <a:bodyPr>
            <a:normAutofit fontScale="32500" lnSpcReduction="20000"/>
          </a:bodyPr>
          <a:lstStyle/>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8763000" cy="6477000"/>
          </a:xfrm>
        </p:spPr>
        <p:txBody>
          <a:bodyPr>
            <a:normAutofit/>
          </a:bodyPr>
          <a:lstStyle/>
          <a:p>
            <a:pPr marL="514350" indent="-514350">
              <a:buAutoNum type="arabicPeriod"/>
            </a:pPr>
            <a:r>
              <a:rPr lang="en-US" b="1" dirty="0" smtClean="0">
                <a:latin typeface="Algerian" pitchFamily="82" charset="0"/>
              </a:rPr>
              <a:t>Storing the waste oil properly for collection and recycling</a:t>
            </a:r>
          </a:p>
          <a:p>
            <a:pPr marL="514350" indent="-514350">
              <a:buNone/>
            </a:pPr>
            <a:endParaRPr lang="en-US" sz="2800" dirty="0" smtClean="0"/>
          </a:p>
          <a:p>
            <a:pPr marL="514350" indent="-514350">
              <a:buNone/>
            </a:pPr>
            <a:r>
              <a:rPr lang="en-US" sz="2800" dirty="0" smtClean="0"/>
              <a:t>	The process of proper oil disposal starts with storing the </a:t>
            </a:r>
            <a:r>
              <a:rPr lang="en-US" sz="2800" dirty="0" smtClean="0">
                <a:hlinkClick r:id="rId2"/>
              </a:rPr>
              <a:t>waste oil</a:t>
            </a:r>
            <a:r>
              <a:rPr lang="en-US" sz="2800" dirty="0" smtClean="0"/>
              <a:t> properly and in the right container. The safest way is to use the original containers that came with the oil during transportation. The storage container should also be tightly closed to avoid leakages that can be </a:t>
            </a:r>
            <a:r>
              <a:rPr lang="en-US" sz="2800" dirty="0" smtClean="0">
                <a:hlinkClick r:id="rId3"/>
              </a:rPr>
              <a:t>harmful to the environment</a:t>
            </a:r>
            <a:r>
              <a:rPr lang="en-US" sz="2800" dirty="0" smtClean="0"/>
              <a:t>. </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91200" y="5867400"/>
            <a:ext cx="3352800" cy="838200"/>
          </a:xfrm>
        </p:spPr>
        <p:txBody>
          <a:bodyPr>
            <a:normAutofit/>
          </a:bodyPr>
          <a:lstStyle/>
          <a:p>
            <a:endParaRPr lang="en-US" dirty="0"/>
          </a:p>
        </p:txBody>
      </p:sp>
      <p:sp>
        <p:nvSpPr>
          <p:cNvPr id="3" name="Content Placeholder 2"/>
          <p:cNvSpPr>
            <a:spLocks noGrp="1"/>
          </p:cNvSpPr>
          <p:nvPr>
            <p:ph idx="1"/>
          </p:nvPr>
        </p:nvSpPr>
        <p:spPr>
          <a:xfrm>
            <a:off x="457200" y="838201"/>
            <a:ext cx="8229600" cy="4419600"/>
          </a:xfrm>
        </p:spPr>
        <p:txBody>
          <a:bodyPr>
            <a:normAutofit/>
          </a:bodyPr>
          <a:lstStyle/>
          <a:p>
            <a:pPr>
              <a:buNone/>
            </a:pPr>
            <a:r>
              <a:rPr lang="en-US" dirty="0" smtClean="0"/>
              <a:t>	When choosing the storage container, those that contained antifreeze, paint, or chemicals should be avoided especially if one intends to recycle or reuse the oil. Careful transfer of the used oil into the storage container should also be ensured to avoid spillage. Once the storage container is tightly sealed, it should be clearly labeled.</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52400"/>
            <a:ext cx="8763000" cy="6477000"/>
          </a:xfrm>
        </p:spPr>
        <p:txBody>
          <a:bodyPr>
            <a:normAutofit/>
          </a:bodyPr>
          <a:lstStyle/>
          <a:p>
            <a:pPr>
              <a:buNone/>
            </a:pPr>
            <a:endParaRPr lang="en-US" b="1" dirty="0" smtClean="0">
              <a:latin typeface="Algerian" pitchFamily="82" charset="0"/>
            </a:endParaRPr>
          </a:p>
          <a:p>
            <a:pPr>
              <a:buNone/>
            </a:pPr>
            <a:r>
              <a:rPr lang="en-US" b="1" dirty="0" smtClean="0">
                <a:latin typeface="Algerian" pitchFamily="82" charset="0"/>
              </a:rPr>
              <a:t>2. Know what you are disposing and the correct way of doing it</a:t>
            </a:r>
            <a:r>
              <a:rPr lang="en-US" dirty="0" smtClean="0"/>
              <a:t/>
            </a:r>
            <a:br>
              <a:rPr lang="en-US" dirty="0" smtClean="0"/>
            </a:br>
            <a:endParaRPr lang="en-US" dirty="0" smtClean="0"/>
          </a:p>
          <a:p>
            <a:pPr>
              <a:buNone/>
            </a:pPr>
            <a:r>
              <a:rPr lang="en-US" dirty="0" smtClean="0"/>
              <a:t>	Before disposing of the waste oil, it is necessary to make sure that you fully understand the oil you want to discard. This will aid in knowing how to correctly dispose of it. For example, burning a substance that you do not fully understand can expose you to untold dangers.</a:t>
            </a:r>
          </a:p>
          <a:p>
            <a:pPr>
              <a:buNone/>
            </a:pPr>
            <a:r>
              <a:rPr lang="en-US" dirty="0" smtClean="0"/>
              <a:t>    </a:t>
            </a:r>
          </a:p>
          <a:p>
            <a:pPr>
              <a:buNone/>
            </a:pPr>
            <a:endParaRPr lang="en-US" dirty="0"/>
          </a:p>
        </p:txBody>
      </p:sp>
      <p:sp>
        <p:nvSpPr>
          <p:cNvPr id="4" name="Title 3"/>
          <p:cNvSpPr>
            <a:spLocks noGrp="1"/>
          </p:cNvSpPr>
          <p:nvPr>
            <p:ph type="title"/>
          </p:nvPr>
        </p:nvSpPr>
        <p:spPr>
          <a:xfrm flipH="1">
            <a:off x="7086600" y="-609600"/>
            <a:ext cx="1645918" cy="304800"/>
          </a:xfrm>
        </p:spPr>
        <p:txBody>
          <a:bodyPr>
            <a:noAutofit/>
          </a:bodyPr>
          <a:lstStyle/>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smtClean="0"/>
              <a:t>Although you can safely get rid of some oils with heaters and boilers, you may need to outsource disposal services for some oils. Once you understand the oil you are working with, you can be able to choose the safest and </a:t>
            </a:r>
            <a:r>
              <a:rPr lang="en-US" dirty="0" smtClean="0">
                <a:hlinkClick r:id="rId2"/>
              </a:rPr>
              <a:t>effective method of disposal</a:t>
            </a:r>
            <a:r>
              <a:rPr lang="en-US" dirty="0" smtClean="0"/>
              <a:t>.</a:t>
            </a:r>
            <a:br>
              <a:rPr lang="en-US" dirty="0" smtClean="0"/>
            </a:br>
            <a:endParaRPr lang="en-US" dirty="0"/>
          </a:p>
        </p:txBody>
      </p:sp>
      <p:sp>
        <p:nvSpPr>
          <p:cNvPr id="3" name="Subtitle 2"/>
          <p:cNvSpPr>
            <a:spLocks noGrp="1"/>
          </p:cNvSpPr>
          <p:nvPr>
            <p:ph type="subTitle" idx="1"/>
          </p:nvPr>
        </p:nvSpPr>
        <p:spPr>
          <a:xfrm>
            <a:off x="304800" y="304800"/>
            <a:ext cx="8229600" cy="5486400"/>
          </a:xfrm>
        </p:spPr>
        <p:txBody>
          <a:bodyPr/>
          <a:lstStyle/>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62400" y="-1981200"/>
            <a:ext cx="4724400" cy="457200"/>
          </a:xfrm>
        </p:spPr>
        <p:txBody>
          <a:bodyPr>
            <a:normAutofit fontScale="90000"/>
          </a:bodyPr>
          <a:lstStyle/>
          <a:p>
            <a:endParaRPr lang="en-US" dirty="0"/>
          </a:p>
        </p:txBody>
      </p:sp>
      <p:sp>
        <p:nvSpPr>
          <p:cNvPr id="3" name="Content Placeholder 2"/>
          <p:cNvSpPr>
            <a:spLocks noGrp="1"/>
          </p:cNvSpPr>
          <p:nvPr>
            <p:ph idx="1"/>
          </p:nvPr>
        </p:nvSpPr>
        <p:spPr>
          <a:xfrm>
            <a:off x="228600" y="152400"/>
            <a:ext cx="8686800" cy="6477000"/>
          </a:xfrm>
        </p:spPr>
        <p:txBody>
          <a:bodyPr/>
          <a:lstStyle/>
          <a:p>
            <a:pPr>
              <a:buNone/>
            </a:pPr>
            <a:endParaRPr lang="en-US" b="1" dirty="0" smtClean="0">
              <a:latin typeface="Algerian" pitchFamily="82" charset="0"/>
            </a:endParaRPr>
          </a:p>
          <a:p>
            <a:pPr>
              <a:buNone/>
            </a:pPr>
            <a:r>
              <a:rPr lang="en-US" b="1" dirty="0" smtClean="0">
                <a:latin typeface="Algerian" pitchFamily="82" charset="0"/>
              </a:rPr>
              <a:t>3. Store waste oil in a safe place</a:t>
            </a:r>
          </a:p>
          <a:p>
            <a:r>
              <a:rPr lang="en-US" dirty="0" smtClean="0"/>
              <a:t>Since you are not likely to dispose of the </a:t>
            </a:r>
            <a:r>
              <a:rPr lang="en-US" dirty="0" smtClean="0">
                <a:hlinkClick r:id="rId2"/>
              </a:rPr>
              <a:t>waste oil</a:t>
            </a:r>
            <a:r>
              <a:rPr lang="en-US" dirty="0" smtClean="0"/>
              <a:t> the day you change it from your machine, you should ensure that it is placed in a safe place where no one without necessary information can get hold of it especially if there are children and pets. Waste oil should not be kept in the same place with unused oil to avoid confusion especially if it is stored in ordinary fuel storage.</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76400"/>
            <a:ext cx="8229600" cy="45719"/>
          </a:xfrm>
        </p:spPr>
        <p:txBody>
          <a:bodyPr>
            <a:normAutofit fontScale="90000"/>
          </a:bodyPr>
          <a:lstStyle/>
          <a:p>
            <a:endParaRPr lang="en-US" dirty="0"/>
          </a:p>
        </p:txBody>
      </p:sp>
      <p:sp>
        <p:nvSpPr>
          <p:cNvPr id="3" name="Content Placeholder 2"/>
          <p:cNvSpPr>
            <a:spLocks noGrp="1"/>
          </p:cNvSpPr>
          <p:nvPr>
            <p:ph idx="1"/>
          </p:nvPr>
        </p:nvSpPr>
        <p:spPr>
          <a:xfrm>
            <a:off x="228600" y="152400"/>
            <a:ext cx="8686800" cy="6477000"/>
          </a:xfrm>
        </p:spPr>
        <p:txBody>
          <a:bodyPr/>
          <a:lstStyle/>
          <a:p>
            <a:pPr>
              <a:buNone/>
            </a:pPr>
            <a:endParaRPr lang="en-US" b="1" dirty="0" smtClean="0">
              <a:latin typeface="Algerian" pitchFamily="82" charset="0"/>
            </a:endParaRPr>
          </a:p>
          <a:p>
            <a:pPr>
              <a:buNone/>
            </a:pPr>
            <a:r>
              <a:rPr lang="en-US" b="1" dirty="0" smtClean="0">
                <a:latin typeface="Algerian" pitchFamily="82" charset="0"/>
              </a:rPr>
              <a:t>4. The use of expert services</a:t>
            </a:r>
          </a:p>
          <a:p>
            <a:r>
              <a:rPr lang="en-US" dirty="0" smtClean="0"/>
              <a:t>If you do not have the capacity or ability to dispose of the waste oil, you should always contact a local waste oil remover. Most waste oil service providers have the necessary equipment and facility to ensure safe and effective </a:t>
            </a:r>
            <a:r>
              <a:rPr lang="en-US" dirty="0" smtClean="0">
                <a:hlinkClick r:id="rId2"/>
              </a:rPr>
              <a:t>waste oil disposal</a:t>
            </a:r>
            <a:r>
              <a:rPr lang="en-US" dirty="0" smtClean="0"/>
              <a:t>. When using such services, considerations should be the level of expertise and pricing.</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76400"/>
            <a:ext cx="8229600" cy="609600"/>
          </a:xfrm>
        </p:spPr>
        <p:txBody>
          <a:bodyPr>
            <a:normAutofit fontScale="90000"/>
          </a:bodyPr>
          <a:lstStyle/>
          <a:p>
            <a:endParaRPr lang="en-US" dirty="0"/>
          </a:p>
        </p:txBody>
      </p:sp>
      <p:sp>
        <p:nvSpPr>
          <p:cNvPr id="3" name="Content Placeholder 2"/>
          <p:cNvSpPr>
            <a:spLocks noGrp="1"/>
          </p:cNvSpPr>
          <p:nvPr>
            <p:ph idx="1"/>
          </p:nvPr>
        </p:nvSpPr>
        <p:spPr>
          <a:xfrm>
            <a:off x="152400" y="152400"/>
            <a:ext cx="8763000" cy="6477000"/>
          </a:xfrm>
        </p:spPr>
        <p:txBody>
          <a:bodyPr/>
          <a:lstStyle/>
          <a:p>
            <a:pPr>
              <a:buNone/>
            </a:pPr>
            <a:endParaRPr lang="en-US" b="1" dirty="0" smtClean="0">
              <a:latin typeface="Algerian" pitchFamily="82" charset="0"/>
            </a:endParaRPr>
          </a:p>
          <a:p>
            <a:pPr>
              <a:buNone/>
            </a:pPr>
            <a:r>
              <a:rPr lang="en-US" b="1" dirty="0" smtClean="0">
                <a:latin typeface="Algerian" pitchFamily="82" charset="0"/>
              </a:rPr>
              <a:t>5. Do not pour it down the drain or the septic system</a:t>
            </a:r>
          </a:p>
          <a:p>
            <a:r>
              <a:rPr lang="en-US" dirty="0" smtClean="0"/>
              <a:t>Used cooking oil, grease or any other oil should never be poured down the drain or into the septic system. It clogs sewers and drainage systems. It should be properly stored and labeled as stated above with an objective of later disposing of it correctly, sending it for recycling, or using the services of a professional.</a:t>
            </a:r>
          </a:p>
          <a:p>
            <a:pPr>
              <a:buNone/>
            </a:pPr>
            <a:r>
              <a:rPr lang="en-US" dirty="0" smtClean="0">
                <a:hlinkClick r:id="rId2"/>
              </a:rPr>
              <a:t/>
            </a:r>
            <a:br>
              <a:rPr lang="en-US" dirty="0" smtClean="0">
                <a:hlinkClick r:id="rId2"/>
              </a:rPr>
            </a:b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76400"/>
            <a:ext cx="8229600" cy="152400"/>
          </a:xfrm>
        </p:spPr>
        <p:txBody>
          <a:bodyPr>
            <a:normAutofit fontScale="90000"/>
          </a:bodyPr>
          <a:lstStyle/>
          <a:p>
            <a:endParaRPr lang="en-US" dirty="0"/>
          </a:p>
        </p:txBody>
      </p:sp>
      <p:sp>
        <p:nvSpPr>
          <p:cNvPr id="3" name="Content Placeholder 2"/>
          <p:cNvSpPr>
            <a:spLocks noGrp="1"/>
          </p:cNvSpPr>
          <p:nvPr>
            <p:ph idx="1"/>
          </p:nvPr>
        </p:nvSpPr>
        <p:spPr>
          <a:xfrm>
            <a:off x="228600" y="228600"/>
            <a:ext cx="8686800" cy="6400800"/>
          </a:xfrm>
        </p:spPr>
        <p:txBody>
          <a:bodyPr/>
          <a:lstStyle/>
          <a:p>
            <a:pPr>
              <a:buNone/>
            </a:pPr>
            <a:endParaRPr lang="en-US" b="1" dirty="0" smtClean="0">
              <a:latin typeface="Algerian" pitchFamily="82" charset="0"/>
            </a:endParaRPr>
          </a:p>
          <a:p>
            <a:pPr>
              <a:buNone/>
            </a:pPr>
            <a:r>
              <a:rPr lang="en-US" b="1" dirty="0" smtClean="0">
                <a:latin typeface="Algerian" pitchFamily="82" charset="0"/>
              </a:rPr>
              <a:t>6. Properly maintain your equipment/vehicle</a:t>
            </a:r>
          </a:p>
          <a:p>
            <a:r>
              <a:rPr lang="en-US" dirty="0" smtClean="0"/>
              <a:t>Effective waste oil disposal starts with the maintenance of your equipment or vehicle. A well-maintained machine or vehicle is easy to clean and reduces the overall leakage of oil and the need for new oil replacement thus reducing the overall requirement of used oil disposal.</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752600"/>
            <a:ext cx="8229600" cy="76200"/>
          </a:xfrm>
        </p:spPr>
        <p:txBody>
          <a:bodyPr>
            <a:normAutofit fontScale="90000"/>
          </a:bodyPr>
          <a:lstStyle/>
          <a:p>
            <a:endParaRPr lang="en-US" dirty="0"/>
          </a:p>
        </p:txBody>
      </p:sp>
      <p:sp>
        <p:nvSpPr>
          <p:cNvPr id="3" name="Content Placeholder 2"/>
          <p:cNvSpPr>
            <a:spLocks noGrp="1"/>
          </p:cNvSpPr>
          <p:nvPr>
            <p:ph idx="1"/>
          </p:nvPr>
        </p:nvSpPr>
        <p:spPr>
          <a:xfrm>
            <a:off x="228600" y="228600"/>
            <a:ext cx="8610600" cy="6400800"/>
          </a:xfrm>
        </p:spPr>
        <p:txBody>
          <a:bodyPr>
            <a:normAutofit fontScale="92500" lnSpcReduction="20000"/>
          </a:bodyPr>
          <a:lstStyle/>
          <a:p>
            <a:pPr>
              <a:buNone/>
            </a:pPr>
            <a:endParaRPr lang="en-US" b="1" dirty="0" smtClean="0">
              <a:latin typeface="Algerian" pitchFamily="82" charset="0"/>
            </a:endParaRPr>
          </a:p>
          <a:p>
            <a:pPr>
              <a:buNone/>
            </a:pPr>
            <a:r>
              <a:rPr lang="en-US" b="1" dirty="0" smtClean="0">
                <a:latin typeface="Algerian" pitchFamily="82" charset="0"/>
              </a:rPr>
              <a:t>7. Use the appropriate heater if burning the oil as a disposal means</a:t>
            </a:r>
          </a:p>
          <a:p>
            <a:r>
              <a:rPr lang="en-US" dirty="0" smtClean="0"/>
              <a:t>If you choose to dispose of your oil by burning it, you should make sure that you are using the right heater. Burning waste oil is a safe and cost-effective way to recycle the used oil and convert it into a more useful product. However, you should make sure that you are using an efficient heater that is specially designed for </a:t>
            </a:r>
            <a:r>
              <a:rPr lang="en-US" dirty="0" smtClean="0">
                <a:hlinkClick r:id="rId2"/>
              </a:rPr>
              <a:t>waste oil disposal</a:t>
            </a:r>
            <a:r>
              <a:rPr lang="en-US" dirty="0" smtClean="0"/>
              <a:t>. The waste oil burners are specially designed from carbon steel and should not be confused with ordinary boilers that are made from cast iron.</a:t>
            </a:r>
          </a:p>
          <a:p>
            <a:pPr>
              <a:buNone/>
            </a:pPr>
            <a:r>
              <a:rPr lang="en-US" dirty="0" smtClean="0"/>
              <a:t/>
            </a:r>
            <a:br>
              <a:rPr lang="en-US" dirty="0" smtClean="0"/>
            </a:br>
            <a:endParaRPr lang="en-US" dirty="0" smtClean="0"/>
          </a:p>
          <a:p>
            <a:endParaRPr lang="en-US" dirty="0" smtClean="0"/>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76400"/>
            <a:ext cx="8229600" cy="838200"/>
          </a:xfrm>
        </p:spPr>
        <p:txBody>
          <a:bodyPr/>
          <a:lstStyle/>
          <a:p>
            <a:endParaRPr lang="en-US" dirty="0"/>
          </a:p>
        </p:txBody>
      </p:sp>
      <p:sp>
        <p:nvSpPr>
          <p:cNvPr id="3" name="Content Placeholder 2"/>
          <p:cNvSpPr>
            <a:spLocks noGrp="1"/>
          </p:cNvSpPr>
          <p:nvPr>
            <p:ph idx="1"/>
          </p:nvPr>
        </p:nvSpPr>
        <p:spPr>
          <a:xfrm>
            <a:off x="228600" y="152400"/>
            <a:ext cx="8686800" cy="6477000"/>
          </a:xfrm>
        </p:spPr>
        <p:txBody>
          <a:bodyPr>
            <a:normAutofit lnSpcReduction="10000"/>
          </a:bodyPr>
          <a:lstStyle/>
          <a:p>
            <a:pPr>
              <a:buNone/>
            </a:pPr>
            <a:endParaRPr lang="en-US" b="1" dirty="0" smtClean="0">
              <a:latin typeface="Algerian" pitchFamily="82" charset="0"/>
            </a:endParaRPr>
          </a:p>
          <a:p>
            <a:pPr>
              <a:buNone/>
            </a:pPr>
            <a:r>
              <a:rPr lang="en-US" b="1" dirty="0" smtClean="0">
                <a:latin typeface="Algerian" pitchFamily="82" charset="0"/>
              </a:rPr>
              <a:t>8. Use waste oil disposal approved equipment</a:t>
            </a:r>
          </a:p>
          <a:p>
            <a:r>
              <a:rPr lang="en-US" dirty="0" smtClean="0"/>
              <a:t>It is worth noting that some waste boilers are only designed to effectively burn a limited number of oils. Low quality or unreliable equipment can only burn a limited range of used oils and hence, it is necessary to invest in high-quality equipment. When buying waste oil disposal equipment, you should make sure that it is approved by the appropriate bodies. Most certified boilers and heaters can burn a vast range of waste oils in a way that is safe and effective.</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76400"/>
            <a:ext cx="8229600" cy="381000"/>
          </a:xfrm>
        </p:spPr>
        <p:txBody>
          <a:bodyPr>
            <a:normAutofit fontScale="90000"/>
          </a:bodyPr>
          <a:lstStyle/>
          <a:p>
            <a:endParaRPr lang="en-US" dirty="0"/>
          </a:p>
        </p:txBody>
      </p:sp>
      <p:sp>
        <p:nvSpPr>
          <p:cNvPr id="3" name="Content Placeholder 2"/>
          <p:cNvSpPr>
            <a:spLocks noGrp="1"/>
          </p:cNvSpPr>
          <p:nvPr>
            <p:ph idx="1"/>
          </p:nvPr>
        </p:nvSpPr>
        <p:spPr>
          <a:xfrm>
            <a:off x="228600" y="152400"/>
            <a:ext cx="8763000" cy="6477000"/>
          </a:xfrm>
        </p:spPr>
        <p:txBody>
          <a:bodyPr/>
          <a:lstStyle/>
          <a:p>
            <a:pPr>
              <a:buNone/>
            </a:pPr>
            <a:endParaRPr lang="en-US" b="1" dirty="0" smtClean="0">
              <a:latin typeface="Algerian" pitchFamily="82" charset="0"/>
            </a:endParaRPr>
          </a:p>
          <a:p>
            <a:pPr>
              <a:buNone/>
            </a:pPr>
            <a:r>
              <a:rPr lang="en-US" b="1" dirty="0" smtClean="0">
                <a:latin typeface="Algerian" pitchFamily="82" charset="0"/>
              </a:rPr>
              <a:t>9. Use the laid down oil disposal guidelines</a:t>
            </a:r>
          </a:p>
          <a:p>
            <a:r>
              <a:rPr lang="en-US" dirty="0" smtClean="0"/>
              <a:t>When disposing of used oil, one should strictly adhere to the manufacturer guidelines. If unsure of how used oil should be disposed of, one should always refer to the manual. Different boilers come with different features that are designed to ensure proper waste oil disposal. Others are built to make disposal process as simple as possible and thus, it is necessary to familiarize yourself with the equipment before using it.</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76400"/>
            <a:ext cx="8229600" cy="914400"/>
          </a:xfrm>
        </p:spPr>
        <p:txBody>
          <a:bodyPr/>
          <a:lstStyle/>
          <a:p>
            <a:endParaRPr lang="en-US" dirty="0"/>
          </a:p>
        </p:txBody>
      </p:sp>
      <p:sp>
        <p:nvSpPr>
          <p:cNvPr id="3" name="Content Placeholder 2"/>
          <p:cNvSpPr>
            <a:spLocks noGrp="1"/>
          </p:cNvSpPr>
          <p:nvPr>
            <p:ph idx="1"/>
          </p:nvPr>
        </p:nvSpPr>
        <p:spPr>
          <a:xfrm>
            <a:off x="228600" y="152400"/>
            <a:ext cx="8686800" cy="6477000"/>
          </a:xfrm>
        </p:spPr>
        <p:txBody>
          <a:bodyPr/>
          <a:lstStyle/>
          <a:p>
            <a:pPr>
              <a:buNone/>
            </a:pPr>
            <a:endParaRPr lang="en-US" b="1" dirty="0" smtClean="0">
              <a:latin typeface="Algerian" pitchFamily="82" charset="0"/>
            </a:endParaRPr>
          </a:p>
          <a:p>
            <a:pPr>
              <a:buNone/>
            </a:pPr>
            <a:r>
              <a:rPr lang="en-US" b="1" dirty="0" smtClean="0">
                <a:latin typeface="Algerian" pitchFamily="82" charset="0"/>
              </a:rPr>
              <a:t>10. Dispose of everything associated with the used oil</a:t>
            </a:r>
          </a:p>
          <a:p>
            <a:r>
              <a:rPr lang="en-US" dirty="0" smtClean="0"/>
              <a:t>When disposing of waste oil, most people tend to forget disposing of other contaminated parts. Once a person changes the motor oil, it is a common occurrence to dispose of the oil and forget the oil filter but that should not be the case. The oil filter contains oil contaminations and thus, it can have the same </a:t>
            </a:r>
            <a:r>
              <a:rPr lang="en-US" dirty="0" smtClean="0">
                <a:hlinkClick r:id="rId2"/>
              </a:rPr>
              <a:t>effect on the environment</a:t>
            </a:r>
            <a:r>
              <a:rPr lang="en-US" dirty="0" smtClean="0"/>
              <a:t> as the used oil. This warrants the need for ensuring it is properly disposed of.</a:t>
            </a:r>
          </a:p>
          <a:p>
            <a:pPr>
              <a:buNone/>
            </a:pP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endParaRPr lang="en-US" dirty="0"/>
          </a:p>
        </p:txBody>
      </p:sp>
      <p:sp>
        <p:nvSpPr>
          <p:cNvPr id="3" name="Content Placeholder 2"/>
          <p:cNvSpPr>
            <a:spLocks noGrp="1"/>
          </p:cNvSpPr>
          <p:nvPr>
            <p:ph idx="1"/>
          </p:nvPr>
        </p:nvSpPr>
        <p:spPr>
          <a:xfrm>
            <a:off x="457200" y="838200"/>
            <a:ext cx="8229600" cy="5287963"/>
          </a:xfrm>
        </p:spPr>
        <p:txBody>
          <a:bodyPr/>
          <a:lstStyle/>
          <a:p>
            <a:r>
              <a:rPr lang="en-US" dirty="0" smtClean="0"/>
              <a:t>According to research, the use of biodiesel will aid in reducing greenhouse gas emissions from industries and vehicles by 90% or more. Furthermore, reuse keeps waste oils from the </a:t>
            </a:r>
            <a:r>
              <a:rPr lang="en-US" dirty="0" smtClean="0">
                <a:hlinkClick r:id="rId2"/>
              </a:rPr>
              <a:t>landfills</a:t>
            </a:r>
            <a:r>
              <a:rPr lang="en-US" dirty="0" smtClean="0"/>
              <a:t> and drainage systems, which can contaminate the land, soils, and water. As such, it reduces the overall rate of </a:t>
            </a:r>
            <a:r>
              <a:rPr lang="en-US" dirty="0" smtClean="0">
                <a:hlinkClick r:id="rId3"/>
              </a:rPr>
              <a:t>environmental pollution</a:t>
            </a:r>
            <a:r>
              <a:rPr lang="en-US" dirty="0" smtClean="0"/>
              <a:t>.</a:t>
            </a:r>
            <a:endParaRPr lang="en-US" b="1"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992562"/>
          </a:xfrm>
        </p:spPr>
        <p:txBody>
          <a:bodyPr>
            <a:normAutofit fontScale="90000"/>
          </a:bodyPr>
          <a:lstStyle/>
          <a:p>
            <a:r>
              <a:rPr lang="en-US" dirty="0" smtClean="0"/>
              <a:t/>
            </a:r>
            <a:br>
              <a:rPr lang="en-US" dirty="0" smtClean="0"/>
            </a:br>
            <a:r>
              <a:rPr lang="en-US" dirty="0" smtClean="0"/>
              <a:t/>
            </a:r>
            <a:br>
              <a:rPr lang="en-US" dirty="0" smtClean="0"/>
            </a:br>
            <a:r>
              <a:rPr lang="en-US" sz="6700" dirty="0" smtClean="0"/>
              <a:t>Benefits of Reusing and Recycling Waste Oil</a:t>
            </a:r>
            <a:br>
              <a:rPr lang="en-US" sz="6700" dirty="0" smtClean="0"/>
            </a:br>
            <a:endParaRPr lang="en-US" sz="4800" dirty="0"/>
          </a:p>
        </p:txBody>
      </p:sp>
      <p:sp>
        <p:nvSpPr>
          <p:cNvPr id="3" name="Content Placeholder 2"/>
          <p:cNvSpPr>
            <a:spLocks noGrp="1"/>
          </p:cNvSpPr>
          <p:nvPr>
            <p:ph idx="1"/>
          </p:nvPr>
        </p:nvSpPr>
        <p:spPr>
          <a:xfrm>
            <a:off x="762000" y="4648200"/>
            <a:ext cx="7924800" cy="1477963"/>
          </a:xfrm>
        </p:spPr>
        <p:txBody>
          <a:bodyPr/>
          <a:lstStyle/>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58762"/>
          </a:xfrm>
        </p:spPr>
        <p:txBody>
          <a:bodyPr>
            <a:normAutofit fontScale="90000"/>
          </a:bodyPr>
          <a:lstStyle/>
          <a:p>
            <a:endParaRPr lang="en-US" dirty="0"/>
          </a:p>
        </p:txBody>
      </p:sp>
      <p:sp>
        <p:nvSpPr>
          <p:cNvPr id="3" name="Content Placeholder 2"/>
          <p:cNvSpPr>
            <a:spLocks noGrp="1"/>
          </p:cNvSpPr>
          <p:nvPr>
            <p:ph idx="1"/>
          </p:nvPr>
        </p:nvSpPr>
        <p:spPr>
          <a:xfrm>
            <a:off x="457200" y="457200"/>
            <a:ext cx="8229600" cy="5668963"/>
          </a:xfrm>
        </p:spPr>
        <p:txBody>
          <a:bodyPr>
            <a:normAutofit fontScale="92500" lnSpcReduction="20000"/>
          </a:bodyPr>
          <a:lstStyle/>
          <a:p>
            <a:endParaRPr lang="en-US" sz="2600" dirty="0" smtClean="0"/>
          </a:p>
          <a:p>
            <a:endParaRPr lang="en-US" sz="2600" dirty="0" smtClean="0"/>
          </a:p>
          <a:p>
            <a:pPr>
              <a:buNone/>
            </a:pPr>
            <a:r>
              <a:rPr lang="en-US" sz="3900" dirty="0" smtClean="0"/>
              <a:t>1 . </a:t>
            </a:r>
            <a:r>
              <a:rPr lang="en-US" sz="4700" dirty="0" smtClean="0"/>
              <a:t>Eliminates the risk of harming the environment</a:t>
            </a:r>
            <a:endParaRPr lang="en-US" sz="4000" dirty="0" smtClean="0"/>
          </a:p>
          <a:p>
            <a:pPr>
              <a:buNone/>
            </a:pPr>
            <a:r>
              <a:rPr lang="en-US" sz="4000" dirty="0" smtClean="0"/>
              <a:t>	</a:t>
            </a:r>
            <a:r>
              <a:rPr lang="en-US" sz="3300" dirty="0" smtClean="0"/>
              <a:t>Recycling and reusing the used oil helps to eliminate the risk of oil harming the environment due to </a:t>
            </a:r>
            <a:r>
              <a:rPr lang="en-US" sz="3300" dirty="0" smtClean="0">
                <a:hlinkClick r:id="rId2"/>
              </a:rPr>
              <a:t>greenhouse gas emissions</a:t>
            </a:r>
            <a:r>
              <a:rPr lang="en-US" sz="3300" dirty="0" smtClean="0"/>
              <a:t> and the contamination of water systems, land, and agricultural fields. Recycling used oil into </a:t>
            </a:r>
            <a:r>
              <a:rPr lang="en-US" sz="3300" dirty="0" smtClean="0">
                <a:hlinkClick r:id="rId3"/>
              </a:rPr>
              <a:t>biodiesel</a:t>
            </a:r>
            <a:r>
              <a:rPr lang="en-US" sz="3300" dirty="0" smtClean="0"/>
              <a:t>, for example, produces less carbon footprint than producing virgin oil of the same quantity.</a:t>
            </a:r>
          </a:p>
          <a:p>
            <a:endParaRPr lang="en-US" sz="4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According to research, the use of biodiesel will aid in reducing greenhouse gas emissions from industries and vehicles by 90% or more. Furthermore, reuse keeps waste oils from the </a:t>
            </a:r>
            <a:r>
              <a:rPr lang="en-US" dirty="0" smtClean="0">
                <a:hlinkClick r:id="rId2"/>
              </a:rPr>
              <a:t>landfills</a:t>
            </a:r>
            <a:r>
              <a:rPr lang="en-US" dirty="0" smtClean="0"/>
              <a:t> and drainage systems, which can contaminate the land, soils, and water. As such, it reduces the overall rate of </a:t>
            </a:r>
            <a:r>
              <a:rPr lang="en-US" dirty="0" smtClean="0">
                <a:hlinkClick r:id="rId3"/>
              </a:rPr>
              <a:t>environmental pollution</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077200" cy="334962"/>
          </a:xfrm>
        </p:spPr>
        <p:txBody>
          <a:bodyPr>
            <a:normAutofit fontScale="90000"/>
          </a:bodyPr>
          <a:lstStyle/>
          <a:p>
            <a:endParaRPr lang="en-US" dirty="0"/>
          </a:p>
        </p:txBody>
      </p:sp>
      <p:sp>
        <p:nvSpPr>
          <p:cNvPr id="3" name="Content Placeholder 2"/>
          <p:cNvSpPr>
            <a:spLocks noGrp="1"/>
          </p:cNvSpPr>
          <p:nvPr>
            <p:ph idx="1"/>
          </p:nvPr>
        </p:nvSpPr>
        <p:spPr>
          <a:xfrm>
            <a:off x="457200" y="1219200"/>
            <a:ext cx="8458200" cy="4906963"/>
          </a:xfrm>
        </p:spPr>
        <p:txBody>
          <a:bodyPr>
            <a:normAutofit fontScale="85000" lnSpcReduction="10000"/>
          </a:bodyPr>
          <a:lstStyle/>
          <a:p>
            <a:r>
              <a:rPr lang="en-US" sz="4700" dirty="0" smtClean="0"/>
              <a:t>2. </a:t>
            </a:r>
            <a:r>
              <a:rPr lang="en-US" sz="4300" dirty="0" smtClean="0"/>
              <a:t>Offers valuable, less costly, and reliable source of renewable energy</a:t>
            </a:r>
          </a:p>
          <a:p>
            <a:pPr>
              <a:buNone/>
            </a:pPr>
            <a:r>
              <a:rPr lang="en-US" sz="3900" dirty="0" smtClean="0"/>
              <a:t>	</a:t>
            </a:r>
          </a:p>
          <a:p>
            <a:pPr>
              <a:buNone/>
            </a:pPr>
            <a:r>
              <a:rPr lang="en-US" dirty="0" smtClean="0"/>
              <a:t>	Since oils do not expire, they are a reliable source of energy. It is cost-effective to use recycled oil as fuel as it can help people reduce heating and energy bills. Recycling used oil also requires minimal energy consumption compared to processing raw material resulting in an overall cost benefit. Used cooking oil, for example, can be converted into biodiesel fuel, which can be used to power vehicles and machines.</a:t>
            </a:r>
          </a:p>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dirty="0" smtClean="0"/>
              <a:t/>
            </a:r>
            <a:br>
              <a:rPr lang="en-US" dirty="0" smtClean="0"/>
            </a:br>
            <a:r>
              <a:rPr lang="en-US" dirty="0" smtClean="0"/>
              <a:t/>
            </a:r>
            <a:br>
              <a:rPr lang="en-US" dirty="0" smtClean="0"/>
            </a:br>
            <a:r>
              <a:rPr lang="en-US" dirty="0" smtClean="0"/>
              <a:t>3 Lower costs of drainage repairs and clean-up</a:t>
            </a:r>
            <a:br>
              <a:rPr lang="en-US" dirty="0" smtClean="0"/>
            </a:br>
            <a:r>
              <a:rPr lang="en-US" dirty="0" smtClean="0"/>
              <a:t/>
            </a:r>
            <a:br>
              <a:rPr lang="en-US" dirty="0" smtClean="0"/>
            </a:br>
            <a:endParaRPr lang="en-US" dirty="0"/>
          </a:p>
        </p:txBody>
      </p:sp>
      <p:sp>
        <p:nvSpPr>
          <p:cNvPr id="3" name="Content Placeholder 2"/>
          <p:cNvSpPr>
            <a:spLocks noGrp="1"/>
          </p:cNvSpPr>
          <p:nvPr>
            <p:ph idx="1"/>
          </p:nvPr>
        </p:nvSpPr>
        <p:spPr/>
        <p:txBody>
          <a:bodyPr>
            <a:noAutofit/>
          </a:bodyPr>
          <a:lstStyle/>
          <a:p>
            <a:r>
              <a:rPr lang="en-US" sz="2800" dirty="0" smtClean="0"/>
              <a:t>Re-refining is considered the best way in managing drainage repair and clean-up costs. According to reports, hospitals, households, and restaurants have for a long time had a tendency of disposing of used cooking oil through the kitchen drain that not only magnifies the effects of water and </a:t>
            </a:r>
            <a:r>
              <a:rPr lang="en-US" sz="2800" dirty="0" smtClean="0">
                <a:hlinkClick r:id="rId2"/>
              </a:rPr>
              <a:t>land pollution</a:t>
            </a:r>
            <a:r>
              <a:rPr lang="en-US" sz="2800" dirty="0" smtClean="0"/>
              <a:t> but also makes drainage and sewer treatment quite difficult, increasing the costs of repairs and clean-up. With the recycling of waste cooking oil, it can significantly reduce the drainage repair and clean-up costs.</a:t>
            </a:r>
            <a:endParaRPr lang="en-US" sz="2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4. </a:t>
            </a:r>
            <a:r>
              <a:rPr lang="en-US" dirty="0" smtClean="0"/>
              <a:t>It can create jobs</a:t>
            </a:r>
            <a:br>
              <a:rPr lang="en-US" dirty="0" smtClean="0"/>
            </a:br>
            <a:endParaRPr lang="en-US" dirty="0"/>
          </a:p>
        </p:txBody>
      </p:sp>
      <p:sp>
        <p:nvSpPr>
          <p:cNvPr id="3" name="Content Placeholder 2"/>
          <p:cNvSpPr>
            <a:spLocks noGrp="1"/>
          </p:cNvSpPr>
          <p:nvPr>
            <p:ph idx="1"/>
          </p:nvPr>
        </p:nvSpPr>
        <p:spPr/>
        <p:txBody>
          <a:bodyPr>
            <a:normAutofit/>
          </a:bodyPr>
          <a:lstStyle/>
          <a:p>
            <a:r>
              <a:rPr lang="en-US" dirty="0" smtClean="0"/>
              <a:t>Recycling oil can create new jobs especially if people can embrace waste oil recycling with an objective of biodiesel production. </a:t>
            </a:r>
            <a:r>
              <a:rPr lang="en-US" dirty="0" smtClean="0">
                <a:hlinkClick r:id="rId2"/>
              </a:rPr>
              <a:t>Biodiesel</a:t>
            </a:r>
            <a:r>
              <a:rPr lang="en-US" dirty="0" smtClean="0"/>
              <a:t> can be used to power vehicles, engines of generators, transformers, and agricultural machinery. The jobs can be created in fields such as information technology, research and training, marketing, and engineering.</a:t>
            </a:r>
          </a:p>
          <a:p>
            <a:endParaRPr lang="en-US" dirty="0" smtClean="0"/>
          </a:p>
          <a:p>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278562"/>
          </a:xfrm>
        </p:spPr>
        <p:txBody>
          <a:bodyPr>
            <a:normAutofit/>
          </a:bodyPr>
          <a:lstStyle/>
          <a:p>
            <a:r>
              <a:rPr lang="en-US" sz="9600" b="1" dirty="0" smtClean="0">
                <a:solidFill>
                  <a:srgbClr val="0070C0"/>
                </a:solidFill>
                <a:latin typeface="Algerian" pitchFamily="82" charset="0"/>
              </a:rPr>
              <a:t>THANK YOU </a:t>
            </a:r>
            <a:endParaRPr lang="en-US" sz="9600" b="1" dirty="0">
              <a:solidFill>
                <a:srgbClr val="0070C0"/>
              </a:solidFill>
              <a:latin typeface="Algerian" pitchFamily="82"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215</TotalTime>
  <Words>768</Words>
  <Application>Microsoft Office PowerPoint</Application>
  <PresentationFormat>On-screen Show (4:3)</PresentationFormat>
  <Paragraphs>51</Paragraphs>
  <Slides>21</Slides>
  <Notes>0</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Theme</vt:lpstr>
      <vt:lpstr>OIL WASTE DISPOSAL METHODS</vt:lpstr>
      <vt:lpstr>Slide 2</vt:lpstr>
      <vt:lpstr>Slide 3</vt:lpstr>
      <vt:lpstr>Slide 4</vt:lpstr>
      <vt:lpstr>Although you can safely get rid of some oils with heaters and boilers, you may need to outsource disposal services for some oils. Once you understand the oil you are working with, you can be able to choose the safest and effective method of disposal. </vt:lpstr>
      <vt:lpstr>Slide 6</vt:lpstr>
      <vt:lpstr>Slide 7</vt:lpstr>
      <vt:lpstr>Slide 8</vt:lpstr>
      <vt:lpstr>Slide 9</vt:lpstr>
      <vt:lpstr>Slide 10</vt:lpstr>
      <vt:lpstr>Slide 11</vt:lpstr>
      <vt:lpstr>Slide 12</vt:lpstr>
      <vt:lpstr>Slide 13</vt:lpstr>
      <vt:lpstr>Slide 14</vt:lpstr>
      <vt:lpstr>  Benefits of Reusing and Recycling Waste Oil </vt:lpstr>
      <vt:lpstr>Slide 16</vt:lpstr>
      <vt:lpstr>Slide 17</vt:lpstr>
      <vt:lpstr>Slide 18</vt:lpstr>
      <vt:lpstr>   3 Lower costs of drainage repairs and clean-up  </vt:lpstr>
      <vt:lpstr>4. It can create jobs </vt:lpstr>
      <vt:lpstr>THANK YOU </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vijay kumar</dc:creator>
  <cp:lastModifiedBy>vijay kumar</cp:lastModifiedBy>
  <cp:revision>25</cp:revision>
  <dcterms:created xsi:type="dcterms:W3CDTF">2006-08-16T00:00:00Z</dcterms:created>
  <dcterms:modified xsi:type="dcterms:W3CDTF">2022-01-04T20:06:50Z</dcterms:modified>
</cp:coreProperties>
</file>