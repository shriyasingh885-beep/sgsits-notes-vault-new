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D09E89C3-D180-4886-828F-B9B5D138B52B}">
  <a:tblStyle styleId="{D09E89C3-D180-4886-828F-B9B5D138B52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38000"/>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Technical_communication"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https://en.wikipedia.org/wiki/Technical_writer"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techwhirl.com/what-is-technical-writing/"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b="1">
                <a:solidFill>
                  <a:schemeClr val="dk1"/>
                </a:solidFill>
              </a:rPr>
              <a:t>Unit I</a:t>
            </a:r>
            <a:br>
              <a:rPr lang="en-US" b="1">
                <a:solidFill>
                  <a:schemeClr val="dk1"/>
                </a:solidFill>
              </a:rPr>
            </a:br>
            <a:r>
              <a:rPr lang="en-US" b="1">
                <a:solidFill>
                  <a:schemeClr val="dk1"/>
                </a:solidFill>
              </a:rPr>
              <a:t>Communication Skills</a:t>
            </a:r>
            <a:endParaRPr/>
          </a:p>
        </p:txBody>
      </p:sp>
      <p:sp>
        <p:nvSpPr>
          <p:cNvPr id="85" name="Google Shape;85;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endParaRPr/>
          </a:p>
          <a:p>
            <a:pPr marL="0" lvl="0" indent="0" algn="ctr" rtl="0">
              <a:lnSpc>
                <a:spcPct val="90000"/>
              </a:lnSpc>
              <a:spcBef>
                <a:spcPts val="1000"/>
              </a:spcBef>
              <a:spcAft>
                <a:spcPts val="0"/>
              </a:spcAft>
              <a:buClr>
                <a:schemeClr val="dk1"/>
              </a:buClr>
              <a:buSzPts val="2400"/>
              <a:buNone/>
            </a:pPr>
            <a:r>
              <a:rPr lang="en-US"/>
              <a:t>                                                             </a:t>
            </a:r>
            <a:r>
              <a:rPr lang="en-US" b="1"/>
              <a:t>         ~ Dr. Sarika Tiwari</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Communication???</a:t>
            </a:r>
            <a:endParaRPr/>
          </a:p>
        </p:txBody>
      </p:sp>
      <p:sp>
        <p:nvSpPr>
          <p:cNvPr id="91" name="Google Shape;9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The art of successful exchange of information </a:t>
            </a:r>
            <a:endParaRPr/>
          </a:p>
          <a:p>
            <a:pPr marL="0" lvl="0" indent="0" algn="l" rtl="0">
              <a:lnSpc>
                <a:spcPct val="90000"/>
              </a:lnSpc>
              <a:spcBef>
                <a:spcPts val="1000"/>
              </a:spcBef>
              <a:spcAft>
                <a:spcPts val="0"/>
              </a:spcAft>
              <a:buClr>
                <a:schemeClr val="dk1"/>
              </a:buClr>
              <a:buSzPts val="2800"/>
              <a:buNone/>
            </a:pPr>
            <a:r>
              <a:rPr lang="en-US"/>
              <a:t>that culminates in the establishment of mutual understanding between: </a:t>
            </a:r>
            <a:endParaRPr/>
          </a:p>
          <a:p>
            <a:pPr marL="0" lvl="0" indent="0" algn="l" rtl="0">
              <a:lnSpc>
                <a:spcPct val="90000"/>
              </a:lnSpc>
              <a:spcBef>
                <a:spcPts val="1000"/>
              </a:spcBef>
              <a:spcAft>
                <a:spcPts val="0"/>
              </a:spcAft>
              <a:buClr>
                <a:schemeClr val="dk1"/>
              </a:buClr>
              <a:buSzPts val="2400"/>
              <a:buNone/>
            </a:pPr>
            <a:r>
              <a:rPr lang="en-US" sz="2400"/>
              <a:t>1.Two or more persons</a:t>
            </a:r>
            <a:endParaRPr/>
          </a:p>
          <a:p>
            <a:pPr marL="0" lvl="0" indent="0" algn="l" rtl="0">
              <a:lnSpc>
                <a:spcPct val="90000"/>
              </a:lnSpc>
              <a:spcBef>
                <a:spcPts val="1000"/>
              </a:spcBef>
              <a:spcAft>
                <a:spcPts val="0"/>
              </a:spcAft>
              <a:buClr>
                <a:schemeClr val="dk1"/>
              </a:buClr>
              <a:buSzPts val="2400"/>
              <a:buNone/>
            </a:pPr>
            <a:r>
              <a:rPr lang="en-US" sz="2400"/>
              <a:t>2.An individual and a group</a:t>
            </a:r>
            <a:endParaRPr/>
          </a:p>
          <a:p>
            <a:pPr marL="0" lvl="0" indent="0" algn="l" rtl="0">
              <a:lnSpc>
                <a:spcPct val="90000"/>
              </a:lnSpc>
              <a:spcBef>
                <a:spcPts val="1000"/>
              </a:spcBef>
              <a:spcAft>
                <a:spcPts val="0"/>
              </a:spcAft>
              <a:buClr>
                <a:schemeClr val="dk1"/>
              </a:buClr>
              <a:buSzPts val="2400"/>
              <a:buNone/>
            </a:pPr>
            <a:r>
              <a:rPr lang="en-US" sz="2400"/>
              <a:t>3.Two or more groups</a:t>
            </a:r>
            <a:endParaRPr/>
          </a:p>
          <a:p>
            <a:pPr marL="228600" lvl="0" indent="-228600" algn="l" rtl="0">
              <a:lnSpc>
                <a:spcPct val="90000"/>
              </a:lnSpc>
              <a:spcBef>
                <a:spcPts val="1000"/>
              </a:spcBef>
              <a:spcAft>
                <a:spcPts val="0"/>
              </a:spcAft>
              <a:buClr>
                <a:schemeClr val="dk1"/>
              </a:buClr>
              <a:buSzPts val="2800"/>
              <a:buFont typeface="Noto Sans Symbols"/>
              <a:buChar char="❖"/>
            </a:pPr>
            <a:r>
              <a:rPr lang="en-US"/>
              <a:t>Etymylogy: In 3 Latin words =&gt; ‘communico’ , ‘communicare’ , ‘communis’</a:t>
            </a:r>
            <a:endParaRPr/>
          </a:p>
          <a:p>
            <a:pPr marL="0" lvl="0" indent="0" algn="l" rtl="0">
              <a:lnSpc>
                <a:spcPct val="90000"/>
              </a:lnSpc>
              <a:spcBef>
                <a:spcPts val="1000"/>
              </a:spcBef>
              <a:spcAft>
                <a:spcPts val="0"/>
              </a:spcAft>
              <a:buClr>
                <a:schemeClr val="dk1"/>
              </a:buClr>
              <a:buSzPts val="2800"/>
              <a:buNone/>
            </a:pPr>
            <a:endParaRPr/>
          </a:p>
        </p:txBody>
      </p:sp>
      <p:sp>
        <p:nvSpPr>
          <p:cNvPr id="92" name="Google Shape;92;p14"/>
          <p:cNvSpPr/>
          <p:nvPr/>
        </p:nvSpPr>
        <p:spPr>
          <a:xfrm>
            <a:off x="2022764" y="5477164"/>
            <a:ext cx="6705600" cy="508000"/>
          </a:xfrm>
          <a:prstGeom prst="roundRect">
            <a:avLst>
              <a:gd name="adj" fmla="val 16667"/>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Meaning: ‘to make common’ or ‘to share’</a:t>
            </a:r>
            <a:endParaRPr sz="1800" b="0" i="0" u="none" strike="noStrike" cap="none">
              <a:solidFill>
                <a:schemeClr val="lt1"/>
              </a:solidFill>
              <a:latin typeface="Calibri"/>
              <a:ea typeface="Calibri"/>
              <a:cs typeface="Calibri"/>
              <a:sym typeface="Calibri"/>
            </a:endParaRPr>
          </a:p>
        </p:txBody>
      </p:sp>
      <p:pic>
        <p:nvPicPr>
          <p:cNvPr id="93" name="Google Shape;93;p14" descr="images"/>
          <p:cNvPicPr preferRelativeResize="0">
            <a:picLocks noGrp="1"/>
          </p:cNvPicPr>
          <p:nvPr>
            <p:ph type="body" idx="1"/>
          </p:nvPr>
        </p:nvPicPr>
        <p:blipFill rotWithShape="1">
          <a:blip r:embed="rId3">
            <a:alphaModFix/>
          </a:blip>
          <a:srcRect/>
          <a:stretch/>
        </p:blipFill>
        <p:spPr>
          <a:xfrm>
            <a:off x="9282430" y="365125"/>
            <a:ext cx="1946910" cy="1460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5"/>
          <p:cNvPicPr preferRelativeResize="0"/>
          <p:nvPr/>
        </p:nvPicPr>
        <p:blipFill rotWithShape="1">
          <a:blip r:embed="rId3">
            <a:alphaModFix/>
          </a:blip>
          <a:srcRect/>
          <a:stretch/>
        </p:blipFill>
        <p:spPr>
          <a:xfrm>
            <a:off x="5929745" y="1456475"/>
            <a:ext cx="6262255" cy="5401525"/>
          </a:xfrm>
          <a:prstGeom prst="rect">
            <a:avLst/>
          </a:prstGeom>
          <a:noFill/>
          <a:ln>
            <a:noFill/>
          </a:ln>
        </p:spPr>
      </p:pic>
      <p:pic>
        <p:nvPicPr>
          <p:cNvPr id="99" name="Google Shape;99;p15"/>
          <p:cNvPicPr preferRelativeResize="0"/>
          <p:nvPr/>
        </p:nvPicPr>
        <p:blipFill rotWithShape="1">
          <a:blip r:embed="rId4">
            <a:alphaModFix/>
          </a:blip>
          <a:srcRect/>
          <a:stretch/>
        </p:blipFill>
        <p:spPr>
          <a:xfrm>
            <a:off x="-1" y="1456476"/>
            <a:ext cx="5929746" cy="5401524"/>
          </a:xfrm>
          <a:prstGeom prst="rect">
            <a:avLst/>
          </a:prstGeom>
          <a:noFill/>
          <a:ln>
            <a:noFill/>
          </a:ln>
        </p:spPr>
      </p:pic>
      <p:sp>
        <p:nvSpPr>
          <p:cNvPr id="100" name="Google Shape;100;p15"/>
          <p:cNvSpPr/>
          <p:nvPr/>
        </p:nvSpPr>
        <p:spPr>
          <a:xfrm>
            <a:off x="-1" y="166255"/>
            <a:ext cx="12192001" cy="1219200"/>
          </a:xfrm>
          <a:prstGeom prst="rect">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800" b="0" i="0" u="none" strike="noStrike" cap="none">
                <a:solidFill>
                  <a:schemeClr val="lt1"/>
                </a:solidFill>
                <a:latin typeface="Calibri"/>
                <a:ea typeface="Calibri"/>
                <a:cs typeface="Calibri"/>
                <a:sym typeface="Calibri"/>
              </a:rPr>
              <a:t>The Intrinsic Need to Socialize and Share</a:t>
            </a:r>
            <a:endParaRPr sz="4800" b="0" i="0" u="none" strike="noStrike" cap="non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Definitions:</a:t>
            </a:r>
            <a:endParaRPr/>
          </a:p>
        </p:txBody>
      </p:sp>
      <p:sp>
        <p:nvSpPr>
          <p:cNvPr id="106" name="Google Shape;106;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Shorter Oxford English Dictionary:</a:t>
            </a:r>
            <a:endParaRPr/>
          </a:p>
          <a:p>
            <a:pPr marL="0" lvl="0" indent="0" algn="l" rtl="0">
              <a:lnSpc>
                <a:spcPct val="90000"/>
              </a:lnSpc>
              <a:spcBef>
                <a:spcPts val="1000"/>
              </a:spcBef>
              <a:spcAft>
                <a:spcPts val="0"/>
              </a:spcAft>
              <a:buClr>
                <a:schemeClr val="dk1"/>
              </a:buClr>
              <a:buSzPts val="2800"/>
              <a:buNone/>
            </a:pPr>
            <a:r>
              <a:rPr lang="en-US"/>
              <a:t>“Imparting, conveying or exchange of ideas, knowledge etc by speech, writing or signs.”</a:t>
            </a:r>
            <a:endParaRPr/>
          </a:p>
          <a:p>
            <a:pPr marL="0" lvl="0" indent="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Font typeface="Noto Sans Symbols"/>
              <a:buChar char="❖"/>
            </a:pPr>
            <a:r>
              <a:rPr lang="en-US"/>
              <a:t>Webster Dictionary:</a:t>
            </a:r>
            <a:endParaRPr/>
          </a:p>
          <a:p>
            <a:pPr marL="0" lvl="0" indent="0" algn="l" rtl="0">
              <a:lnSpc>
                <a:spcPct val="90000"/>
              </a:lnSpc>
              <a:spcBef>
                <a:spcPts val="1000"/>
              </a:spcBef>
              <a:spcAft>
                <a:spcPts val="0"/>
              </a:spcAft>
              <a:buClr>
                <a:schemeClr val="dk1"/>
              </a:buClr>
              <a:buSzPts val="2800"/>
              <a:buNone/>
            </a:pPr>
            <a:r>
              <a:rPr lang="en-US"/>
              <a:t>“The art of expressing ideas” or “the science of transmitting information”</a:t>
            </a:r>
            <a:endParaRPr/>
          </a:p>
          <a:p>
            <a:pPr marL="0" lvl="0" indent="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the Author Say?</a:t>
            </a:r>
            <a:endParaRPr/>
          </a:p>
        </p:txBody>
      </p:sp>
      <p:sp>
        <p:nvSpPr>
          <p:cNvPr id="112" name="Google Shape;112;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transfer of information &amp;understanding from one person to another person.</a:t>
            </a:r>
            <a:endParaRPr/>
          </a:p>
          <a:p>
            <a:pPr marL="0" lvl="0" indent="0" algn="l" rtl="0">
              <a:lnSpc>
                <a:spcPct val="90000"/>
              </a:lnSpc>
              <a:spcBef>
                <a:spcPts val="1000"/>
              </a:spcBef>
              <a:spcAft>
                <a:spcPts val="0"/>
              </a:spcAft>
              <a:buClr>
                <a:schemeClr val="dk1"/>
              </a:buClr>
              <a:buSzPts val="2800"/>
              <a:buNone/>
            </a:pPr>
            <a:r>
              <a:rPr lang="en-US"/>
              <a:t>It is a way of reaching other with facts, ideas, thoughts and values.</a:t>
            </a:r>
            <a:endParaRPr/>
          </a:p>
          <a:p>
            <a:pPr marL="0" lvl="0" indent="0" algn="l" rtl="0">
              <a:lnSpc>
                <a:spcPct val="90000"/>
              </a:lnSpc>
              <a:spcBef>
                <a:spcPts val="1000"/>
              </a:spcBef>
              <a:spcAft>
                <a:spcPts val="0"/>
              </a:spcAft>
              <a:buClr>
                <a:schemeClr val="dk1"/>
              </a:buClr>
              <a:buSzPts val="2800"/>
              <a:buNone/>
            </a:pPr>
            <a:r>
              <a:rPr lang="en-US"/>
              <a:t>It is a bridge of meaning among people so that they can share what the feel and know.</a:t>
            </a:r>
            <a:endParaRPr/>
          </a:p>
          <a:p>
            <a:pPr marL="0" lvl="0" indent="0" algn="l" rtl="0">
              <a:lnSpc>
                <a:spcPct val="90000"/>
              </a:lnSpc>
              <a:spcBef>
                <a:spcPts val="1000"/>
              </a:spcBef>
              <a:spcAft>
                <a:spcPts val="0"/>
              </a:spcAft>
              <a:buClr>
                <a:schemeClr val="dk1"/>
              </a:buClr>
              <a:buSzPts val="2800"/>
              <a:buNone/>
            </a:pPr>
            <a:r>
              <a:rPr lang="en-US"/>
              <a:t>By using this bridge, a person can cross safely the river of misunderstanding that sometimes separates people.”</a:t>
            </a:r>
            <a:endParaRPr/>
          </a:p>
          <a:p>
            <a:pPr marL="0" lvl="0" indent="0" algn="l" rtl="0">
              <a:lnSpc>
                <a:spcPct val="90000"/>
              </a:lnSpc>
              <a:spcBef>
                <a:spcPts val="1000"/>
              </a:spcBef>
              <a:spcAft>
                <a:spcPts val="0"/>
              </a:spcAft>
              <a:buClr>
                <a:schemeClr val="dk1"/>
              </a:buClr>
              <a:buSzPts val="2800"/>
              <a:buNone/>
            </a:pPr>
            <a:r>
              <a:rPr lang="en-US"/>
              <a:t>~ Keith Davis</a:t>
            </a:r>
            <a:endParaRPr/>
          </a:p>
        </p:txBody>
      </p:sp>
      <p:pic>
        <p:nvPicPr>
          <p:cNvPr id="113" name="Google Shape;113;p17"/>
          <p:cNvPicPr preferRelativeResize="0"/>
          <p:nvPr/>
        </p:nvPicPr>
        <p:blipFill rotWithShape="1">
          <a:blip r:embed="rId3">
            <a:alphaModFix/>
          </a:blip>
          <a:srcRect/>
          <a:stretch/>
        </p:blipFill>
        <p:spPr>
          <a:xfrm>
            <a:off x="3677478" y="5028435"/>
            <a:ext cx="5615609" cy="167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838200" y="365126"/>
            <a:ext cx="10515600" cy="42006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endParaRPr/>
          </a:p>
        </p:txBody>
      </p:sp>
      <p:sp>
        <p:nvSpPr>
          <p:cNvPr id="119" name="Google Shape;11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George Vardman defines it as “purposive symbolic interchange resulting I workable understanding &amp; agreement between the sender and the receiver.”</a:t>
            </a:r>
            <a:endParaRPr/>
          </a:p>
          <a:p>
            <a:pPr marL="0" lvl="0" indent="0" algn="l" rtl="0">
              <a:lnSpc>
                <a:spcPct val="90000"/>
              </a:lnSpc>
              <a:spcBef>
                <a:spcPts val="1000"/>
              </a:spcBef>
              <a:spcAft>
                <a:spcPts val="0"/>
              </a:spcAft>
              <a:buClr>
                <a:schemeClr val="dk1"/>
              </a:buClr>
              <a:buSzPts val="2800"/>
              <a:buNone/>
            </a:pPr>
            <a:r>
              <a:rPr lang="en-US"/>
              <a:t>a. Emojis		b.Gestures	c. Universal Symbols  d.Words(symbols)</a:t>
            </a:r>
            <a:endParaRPr/>
          </a:p>
        </p:txBody>
      </p:sp>
      <p:pic>
        <p:nvPicPr>
          <p:cNvPr id="120" name="Google Shape;120;p18"/>
          <p:cNvPicPr preferRelativeResize="0"/>
          <p:nvPr/>
        </p:nvPicPr>
        <p:blipFill rotWithShape="1">
          <a:blip r:embed="rId3">
            <a:alphaModFix/>
          </a:blip>
          <a:srcRect/>
          <a:stretch/>
        </p:blipFill>
        <p:spPr>
          <a:xfrm>
            <a:off x="1106876" y="3480273"/>
            <a:ext cx="2103782" cy="1863028"/>
          </a:xfrm>
          <a:prstGeom prst="rect">
            <a:avLst/>
          </a:prstGeom>
          <a:noFill/>
          <a:ln>
            <a:noFill/>
          </a:ln>
        </p:spPr>
      </p:pic>
      <p:sp>
        <p:nvSpPr>
          <p:cNvPr id="121" name="Google Shape;121;p18"/>
          <p:cNvSpPr txBox="1"/>
          <p:nvPr/>
        </p:nvSpPr>
        <p:spPr>
          <a:xfrm>
            <a:off x="5118652" y="3480273"/>
            <a:ext cx="3021496" cy="28837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2" name="Google Shape;122;p18"/>
          <p:cNvPicPr preferRelativeResize="0"/>
          <p:nvPr/>
        </p:nvPicPr>
        <p:blipFill rotWithShape="1">
          <a:blip r:embed="rId4">
            <a:alphaModFix/>
          </a:blip>
          <a:srcRect/>
          <a:stretch/>
        </p:blipFill>
        <p:spPr>
          <a:xfrm>
            <a:off x="5884283" y="3548270"/>
            <a:ext cx="2255865" cy="1854326"/>
          </a:xfrm>
          <a:prstGeom prst="rect">
            <a:avLst/>
          </a:prstGeom>
          <a:noFill/>
          <a:ln>
            <a:noFill/>
          </a:ln>
        </p:spPr>
      </p:pic>
      <p:pic>
        <p:nvPicPr>
          <p:cNvPr id="123" name="Google Shape;123;p18"/>
          <p:cNvPicPr preferRelativeResize="0"/>
          <p:nvPr/>
        </p:nvPicPr>
        <p:blipFill rotWithShape="1">
          <a:blip r:embed="rId5">
            <a:alphaModFix/>
          </a:blip>
          <a:srcRect/>
          <a:stretch/>
        </p:blipFill>
        <p:spPr>
          <a:xfrm>
            <a:off x="8232499" y="3627783"/>
            <a:ext cx="2660788" cy="1715516"/>
          </a:xfrm>
          <a:prstGeom prst="rect">
            <a:avLst/>
          </a:prstGeom>
          <a:noFill/>
          <a:ln>
            <a:noFill/>
          </a:ln>
        </p:spPr>
      </p:pic>
      <p:pic>
        <p:nvPicPr>
          <p:cNvPr id="124" name="Google Shape;124;p18"/>
          <p:cNvPicPr preferRelativeResize="0"/>
          <p:nvPr/>
        </p:nvPicPr>
        <p:blipFill rotWithShape="1">
          <a:blip r:embed="rId6">
            <a:alphaModFix/>
          </a:blip>
          <a:srcRect/>
          <a:stretch/>
        </p:blipFill>
        <p:spPr>
          <a:xfrm>
            <a:off x="3303008" y="3548269"/>
            <a:ext cx="2392114" cy="1795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Types of Communication</a:t>
            </a:r>
            <a:endParaRPr/>
          </a:p>
        </p:txBody>
      </p:sp>
      <p:pic>
        <p:nvPicPr>
          <p:cNvPr id="130" name="Google Shape;130;p19"/>
          <p:cNvPicPr preferRelativeResize="0"/>
          <p:nvPr/>
        </p:nvPicPr>
        <p:blipFill rotWithShape="1">
          <a:blip r:embed="rId3">
            <a:alphaModFix/>
          </a:blip>
          <a:srcRect/>
          <a:stretch/>
        </p:blipFill>
        <p:spPr>
          <a:xfrm>
            <a:off x="1327081" y="2481121"/>
            <a:ext cx="3284676" cy="1544227"/>
          </a:xfrm>
          <a:prstGeom prst="rect">
            <a:avLst/>
          </a:prstGeom>
          <a:noFill/>
          <a:ln>
            <a:noFill/>
          </a:ln>
        </p:spPr>
      </p:pic>
      <p:pic>
        <p:nvPicPr>
          <p:cNvPr id="131" name="Google Shape;131;p19"/>
          <p:cNvPicPr preferRelativeResize="0"/>
          <p:nvPr/>
        </p:nvPicPr>
        <p:blipFill rotWithShape="1">
          <a:blip r:embed="rId4">
            <a:alphaModFix/>
          </a:blip>
          <a:srcRect/>
          <a:stretch/>
        </p:blipFill>
        <p:spPr>
          <a:xfrm>
            <a:off x="1327081" y="4140338"/>
            <a:ext cx="3284676" cy="1685925"/>
          </a:xfrm>
          <a:prstGeom prst="rect">
            <a:avLst/>
          </a:prstGeom>
          <a:noFill/>
          <a:ln>
            <a:noFill/>
          </a:ln>
        </p:spPr>
      </p:pic>
      <p:sp>
        <p:nvSpPr>
          <p:cNvPr id="132" name="Google Shape;132;p19"/>
          <p:cNvSpPr txBox="1"/>
          <p:nvPr/>
        </p:nvSpPr>
        <p:spPr>
          <a:xfrm>
            <a:off x="1143000" y="1997765"/>
            <a:ext cx="36774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a. Verbal   Communication</a:t>
            </a:r>
            <a:endParaRPr sz="2400">
              <a:solidFill>
                <a:schemeClr val="dk1"/>
              </a:solidFill>
              <a:latin typeface="Calibri"/>
              <a:ea typeface="Calibri"/>
              <a:cs typeface="Calibri"/>
              <a:sym typeface="Calibri"/>
            </a:endParaRPr>
          </a:p>
        </p:txBody>
      </p:sp>
      <p:sp>
        <p:nvSpPr>
          <p:cNvPr id="133" name="Google Shape;133;p19"/>
          <p:cNvSpPr txBox="1"/>
          <p:nvPr/>
        </p:nvSpPr>
        <p:spPr>
          <a:xfrm>
            <a:off x="5610846" y="1894162"/>
            <a:ext cx="431358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b. Non-Verbal Communication</a:t>
            </a:r>
            <a:endParaRPr sz="2400">
              <a:solidFill>
                <a:schemeClr val="dk1"/>
              </a:solidFill>
              <a:latin typeface="Calibri"/>
              <a:ea typeface="Calibri"/>
              <a:cs typeface="Calibri"/>
              <a:sym typeface="Calibri"/>
            </a:endParaRPr>
          </a:p>
        </p:txBody>
      </p:sp>
      <p:pic>
        <p:nvPicPr>
          <p:cNvPr id="134" name="Google Shape;134;p19"/>
          <p:cNvPicPr preferRelativeResize="0"/>
          <p:nvPr/>
        </p:nvPicPr>
        <p:blipFill rotWithShape="1">
          <a:blip r:embed="rId5">
            <a:alphaModFix/>
          </a:blip>
          <a:srcRect/>
          <a:stretch/>
        </p:blipFill>
        <p:spPr>
          <a:xfrm>
            <a:off x="5610846" y="2481120"/>
            <a:ext cx="3433763" cy="1544227"/>
          </a:xfrm>
          <a:prstGeom prst="rect">
            <a:avLst/>
          </a:prstGeom>
          <a:noFill/>
          <a:ln>
            <a:noFill/>
          </a:ln>
        </p:spPr>
      </p:pic>
      <p:pic>
        <p:nvPicPr>
          <p:cNvPr id="135" name="Google Shape;135;p19"/>
          <p:cNvPicPr preferRelativeResize="0"/>
          <p:nvPr/>
        </p:nvPicPr>
        <p:blipFill rotWithShape="1">
          <a:blip r:embed="rId6">
            <a:alphaModFix/>
          </a:blip>
          <a:srcRect/>
          <a:stretch/>
        </p:blipFill>
        <p:spPr>
          <a:xfrm>
            <a:off x="5610847" y="4183338"/>
            <a:ext cx="3433762" cy="1642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Process of Communication</a:t>
            </a:r>
            <a:endParaRPr/>
          </a:p>
        </p:txBody>
      </p:sp>
      <p:pic>
        <p:nvPicPr>
          <p:cNvPr id="141" name="Google Shape;141;p20"/>
          <p:cNvPicPr preferRelativeResize="0">
            <a:picLocks noGrp="1"/>
          </p:cNvPicPr>
          <p:nvPr>
            <p:ph type="body" idx="1"/>
          </p:nvPr>
        </p:nvPicPr>
        <p:blipFill rotWithShape="1">
          <a:blip r:embed="rId3">
            <a:alphaModFix/>
          </a:blip>
          <a:srcRect/>
          <a:stretch/>
        </p:blipFill>
        <p:spPr>
          <a:xfrm>
            <a:off x="1900495" y="1825625"/>
            <a:ext cx="8391009" cy="4351338"/>
          </a:xfrm>
          <a:prstGeom prst="rect">
            <a:avLst/>
          </a:prstGeom>
          <a:noFill/>
          <a:ln>
            <a:noFill/>
          </a:ln>
        </p:spPr>
      </p:pic>
      <p:sp>
        <p:nvSpPr>
          <p:cNvPr id="142" name="Google Shape;142;p20"/>
          <p:cNvSpPr/>
          <p:nvPr/>
        </p:nvSpPr>
        <p:spPr>
          <a:xfrm>
            <a:off x="914400" y="1690688"/>
            <a:ext cx="1410511" cy="1208155"/>
          </a:xfrm>
          <a:prstGeom prst="cloudCallout">
            <a:avLst>
              <a:gd name="adj1" fmla="val -20833"/>
              <a:gd name="adj2" fmla="val 625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Idea</a:t>
            </a:r>
            <a:endParaRPr sz="1800">
              <a:solidFill>
                <a:schemeClr val="lt1"/>
              </a:solidFill>
              <a:latin typeface="Calibri"/>
              <a:ea typeface="Calibri"/>
              <a:cs typeface="Calibri"/>
              <a:sym typeface="Calibri"/>
            </a:endParaRPr>
          </a:p>
        </p:txBody>
      </p:sp>
      <p:cxnSp>
        <p:nvCxnSpPr>
          <p:cNvPr id="143" name="Google Shape;143;p20"/>
          <p:cNvCxnSpPr/>
          <p:nvPr/>
        </p:nvCxnSpPr>
        <p:spPr>
          <a:xfrm>
            <a:off x="2198451" y="2315184"/>
            <a:ext cx="0" cy="963038"/>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Characteristics of Communication</a:t>
            </a:r>
            <a:endParaRPr/>
          </a:p>
        </p:txBody>
      </p:sp>
      <p:sp>
        <p:nvSpPr>
          <p:cNvPr id="149" name="Google Shape;149;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1. Involves at least 2 persons i.e. a sender &amp; a receiver</a:t>
            </a:r>
            <a:endParaRPr/>
          </a:p>
          <a:p>
            <a:pPr marL="0" lvl="0" indent="0" algn="l" rtl="0">
              <a:lnSpc>
                <a:spcPct val="90000"/>
              </a:lnSpc>
              <a:spcBef>
                <a:spcPts val="1000"/>
              </a:spcBef>
              <a:spcAft>
                <a:spcPts val="0"/>
              </a:spcAft>
              <a:buClr>
                <a:schemeClr val="dk1"/>
              </a:buClr>
              <a:buSzPts val="2800"/>
              <a:buNone/>
            </a:pPr>
            <a:r>
              <a:rPr lang="en-US"/>
              <a:t>2. Involves transmission of ideas or views</a:t>
            </a:r>
            <a:endParaRPr/>
          </a:p>
          <a:p>
            <a:pPr marL="0" lvl="0" indent="0" algn="l" rtl="0">
              <a:lnSpc>
                <a:spcPct val="90000"/>
              </a:lnSpc>
              <a:spcBef>
                <a:spcPts val="1000"/>
              </a:spcBef>
              <a:spcAft>
                <a:spcPts val="0"/>
              </a:spcAft>
              <a:buClr>
                <a:schemeClr val="dk1"/>
              </a:buClr>
              <a:buSzPts val="2800"/>
              <a:buNone/>
            </a:pPr>
            <a:r>
              <a:rPr lang="en-US"/>
              <a:t>3. Understanding: an essential component</a:t>
            </a:r>
            <a:endParaRPr/>
          </a:p>
          <a:p>
            <a:pPr marL="0" lvl="0" indent="0" algn="l" rtl="0">
              <a:lnSpc>
                <a:spcPct val="90000"/>
              </a:lnSpc>
              <a:spcBef>
                <a:spcPts val="1000"/>
              </a:spcBef>
              <a:spcAft>
                <a:spcPts val="0"/>
              </a:spcAft>
              <a:buClr>
                <a:schemeClr val="dk1"/>
              </a:buClr>
              <a:buSzPts val="2800"/>
              <a:buNone/>
            </a:pPr>
            <a:r>
              <a:rPr lang="en-US"/>
              <a:t>4.Intentional or Unintentional</a:t>
            </a:r>
            <a:endParaRPr/>
          </a:p>
          <a:p>
            <a:pPr marL="0" lvl="0" indent="0" algn="l" rtl="0">
              <a:lnSpc>
                <a:spcPct val="90000"/>
              </a:lnSpc>
              <a:spcBef>
                <a:spcPts val="1000"/>
              </a:spcBef>
              <a:spcAft>
                <a:spcPts val="0"/>
              </a:spcAft>
              <a:buClr>
                <a:schemeClr val="dk1"/>
              </a:buClr>
              <a:buSzPts val="2800"/>
              <a:buNone/>
            </a:pPr>
            <a:r>
              <a:rPr lang="en-US"/>
              <a:t>5. Purpose</a:t>
            </a:r>
            <a:endParaRPr/>
          </a:p>
          <a:p>
            <a:pPr marL="0" lvl="0" indent="0" algn="l" rtl="0">
              <a:lnSpc>
                <a:spcPct val="90000"/>
              </a:lnSpc>
              <a:spcBef>
                <a:spcPts val="1000"/>
              </a:spcBef>
              <a:spcAft>
                <a:spcPts val="0"/>
              </a:spcAft>
              <a:buClr>
                <a:schemeClr val="dk1"/>
              </a:buClr>
              <a:buSzPts val="2800"/>
              <a:buNone/>
            </a:pPr>
            <a:r>
              <a:rPr lang="en-US"/>
              <a:t>6. A Two-way Process</a:t>
            </a:r>
            <a:endParaRPr/>
          </a:p>
          <a:p>
            <a:pPr marL="0" lvl="0" indent="0" algn="l" rtl="0">
              <a:lnSpc>
                <a:spcPct val="90000"/>
              </a:lnSpc>
              <a:spcBef>
                <a:spcPts val="1000"/>
              </a:spcBef>
              <a:spcAft>
                <a:spcPts val="0"/>
              </a:spcAft>
              <a:buClr>
                <a:schemeClr val="dk1"/>
              </a:buClr>
              <a:buSzPts val="2800"/>
              <a:buNone/>
            </a:pPr>
            <a:r>
              <a:rPr lang="en-US"/>
              <a:t>7. Dynamic process</a:t>
            </a:r>
            <a:endParaRPr/>
          </a:p>
          <a:p>
            <a:pPr marL="0" lvl="0" indent="0" algn="l" rtl="0">
              <a:lnSpc>
                <a:spcPct val="90000"/>
              </a:lnSpc>
              <a:spcBef>
                <a:spcPts val="1000"/>
              </a:spcBef>
              <a:spcAft>
                <a:spcPts val="0"/>
              </a:spcAft>
              <a:buClr>
                <a:schemeClr val="dk1"/>
              </a:buClr>
              <a:buSzPts val="2800"/>
              <a:buNone/>
            </a:pPr>
            <a:r>
              <a:rPr lang="en-US"/>
              <a:t>8. Systematic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155" name="Google Shape;155;p22"/>
          <p:cNvPicPr preferRelativeResize="0">
            <a:picLocks noGrp="1"/>
          </p:cNvPicPr>
          <p:nvPr>
            <p:ph type="body" idx="1"/>
          </p:nvPr>
        </p:nvPicPr>
        <p:blipFill rotWithShape="1">
          <a:blip r:embed="rId3">
            <a:alphaModFix/>
          </a:blip>
          <a:srcRect/>
          <a:stretch/>
        </p:blipFill>
        <p:spPr>
          <a:xfrm>
            <a:off x="1167319" y="1825625"/>
            <a:ext cx="9202365" cy="43513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3"/>
          <p:cNvPicPr preferRelativeResize="0"/>
          <p:nvPr/>
        </p:nvPicPr>
        <p:blipFill rotWithShape="1">
          <a:blip r:embed="rId3">
            <a:alphaModFix/>
          </a:blip>
          <a:srcRect/>
          <a:stretch/>
        </p:blipFill>
        <p:spPr>
          <a:xfrm>
            <a:off x="1877438" y="1017823"/>
            <a:ext cx="7833803" cy="482235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4"/>
          <p:cNvPicPr preferRelativeResize="0"/>
          <p:nvPr/>
        </p:nvPicPr>
        <p:blipFill rotWithShape="1">
          <a:blip r:embed="rId3">
            <a:alphaModFix/>
          </a:blip>
          <a:srcRect/>
          <a:stretch/>
        </p:blipFill>
        <p:spPr>
          <a:xfrm>
            <a:off x="894522" y="1524000"/>
            <a:ext cx="2653749" cy="3810000"/>
          </a:xfrm>
          <a:prstGeom prst="rect">
            <a:avLst/>
          </a:prstGeom>
          <a:noFill/>
          <a:ln>
            <a:noFill/>
          </a:ln>
        </p:spPr>
      </p:pic>
      <p:pic>
        <p:nvPicPr>
          <p:cNvPr id="166" name="Google Shape;166;p24"/>
          <p:cNvPicPr preferRelativeResize="0"/>
          <p:nvPr/>
        </p:nvPicPr>
        <p:blipFill rotWithShape="1">
          <a:blip r:embed="rId4">
            <a:alphaModFix/>
          </a:blip>
          <a:srcRect/>
          <a:stretch/>
        </p:blipFill>
        <p:spPr>
          <a:xfrm>
            <a:off x="7540307" y="4185920"/>
            <a:ext cx="2466975" cy="1847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p:nvPr/>
        </p:nvSpPr>
        <p:spPr>
          <a:xfrm>
            <a:off x="3202940" y="262890"/>
            <a:ext cx="5621655" cy="623570"/>
          </a:xfrm>
          <a:prstGeom prst="rect">
            <a:avLst/>
          </a:prstGeom>
          <a:solidFill>
            <a:srgbClr val="FFD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Business Communication</a:t>
            </a:r>
            <a:endParaRPr/>
          </a:p>
        </p:txBody>
      </p:sp>
      <p:sp>
        <p:nvSpPr>
          <p:cNvPr id="172" name="Google Shape;172;p25"/>
          <p:cNvSpPr/>
          <p:nvPr/>
        </p:nvSpPr>
        <p:spPr>
          <a:xfrm>
            <a:off x="1054735" y="1106170"/>
            <a:ext cx="3117215" cy="566420"/>
          </a:xfrm>
          <a:prstGeom prst="rect">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Internal</a:t>
            </a:r>
            <a:endParaRPr/>
          </a:p>
        </p:txBody>
      </p:sp>
      <p:sp>
        <p:nvSpPr>
          <p:cNvPr id="173" name="Google Shape;173;p25"/>
          <p:cNvSpPr/>
          <p:nvPr/>
        </p:nvSpPr>
        <p:spPr>
          <a:xfrm>
            <a:off x="7097395" y="1106170"/>
            <a:ext cx="3616325" cy="566420"/>
          </a:xfrm>
          <a:prstGeom prst="rect">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External</a:t>
            </a:r>
            <a:endParaRPr/>
          </a:p>
        </p:txBody>
      </p:sp>
      <p:sp>
        <p:nvSpPr>
          <p:cNvPr id="174" name="Google Shape;174;p25"/>
          <p:cNvSpPr/>
          <p:nvPr/>
        </p:nvSpPr>
        <p:spPr>
          <a:xfrm>
            <a:off x="632460" y="1911985"/>
            <a:ext cx="3529965" cy="55689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Facilitates Planning</a:t>
            </a:r>
            <a:endParaRPr/>
          </a:p>
        </p:txBody>
      </p:sp>
      <p:sp>
        <p:nvSpPr>
          <p:cNvPr id="175" name="Google Shape;175;p25"/>
          <p:cNvSpPr/>
          <p:nvPr/>
        </p:nvSpPr>
        <p:spPr>
          <a:xfrm>
            <a:off x="632460" y="2622550"/>
            <a:ext cx="3539490" cy="53657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Coordination</a:t>
            </a:r>
            <a:endParaRPr/>
          </a:p>
        </p:txBody>
      </p:sp>
      <p:sp>
        <p:nvSpPr>
          <p:cNvPr id="176" name="Google Shape;176;p25"/>
          <p:cNvSpPr/>
          <p:nvPr/>
        </p:nvSpPr>
        <p:spPr>
          <a:xfrm>
            <a:off x="632460" y="3398520"/>
            <a:ext cx="3539490" cy="576580"/>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Promotes Cooperation &amp; Understanding</a:t>
            </a:r>
            <a:endParaRPr/>
          </a:p>
        </p:txBody>
      </p:sp>
      <p:sp>
        <p:nvSpPr>
          <p:cNvPr id="177" name="Google Shape;177;p25"/>
          <p:cNvSpPr/>
          <p:nvPr/>
        </p:nvSpPr>
        <p:spPr>
          <a:xfrm>
            <a:off x="633095" y="4196715"/>
            <a:ext cx="3538220" cy="528320"/>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Helps in Decision-Making</a:t>
            </a:r>
            <a:endParaRPr/>
          </a:p>
        </p:txBody>
      </p:sp>
      <p:sp>
        <p:nvSpPr>
          <p:cNvPr id="178" name="Google Shape;178;p25"/>
          <p:cNvSpPr/>
          <p:nvPr/>
        </p:nvSpPr>
        <p:spPr>
          <a:xfrm>
            <a:off x="652145" y="5031105"/>
            <a:ext cx="3519805" cy="57467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Increases Morale of Employee</a:t>
            </a:r>
            <a:endParaRPr/>
          </a:p>
        </p:txBody>
      </p:sp>
      <p:sp>
        <p:nvSpPr>
          <p:cNvPr id="179" name="Google Shape;179;p25"/>
          <p:cNvSpPr/>
          <p:nvPr/>
        </p:nvSpPr>
        <p:spPr>
          <a:xfrm>
            <a:off x="7816850" y="1912620"/>
            <a:ext cx="3376930" cy="55562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Facilitates Contact in External Envirornment</a:t>
            </a:r>
            <a:endParaRPr/>
          </a:p>
        </p:txBody>
      </p:sp>
      <p:sp>
        <p:nvSpPr>
          <p:cNvPr id="180" name="Google Shape;180;p25"/>
          <p:cNvSpPr/>
          <p:nvPr/>
        </p:nvSpPr>
        <p:spPr>
          <a:xfrm>
            <a:off x="7778750" y="2766060"/>
            <a:ext cx="3415030" cy="575310"/>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Improves Ability to Handle Competition Better</a:t>
            </a:r>
            <a:endParaRPr/>
          </a:p>
        </p:txBody>
      </p:sp>
      <p:sp>
        <p:nvSpPr>
          <p:cNvPr id="181" name="Google Shape;181;p25"/>
          <p:cNvSpPr/>
          <p:nvPr/>
        </p:nvSpPr>
        <p:spPr>
          <a:xfrm>
            <a:off x="7807325" y="3707130"/>
            <a:ext cx="3424555" cy="48958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Improves Public Relations</a:t>
            </a:r>
            <a:endParaRPr/>
          </a:p>
        </p:txBody>
      </p:sp>
      <p:sp>
        <p:nvSpPr>
          <p:cNvPr id="182" name="Google Shape;182;p25"/>
          <p:cNvSpPr/>
          <p:nvPr/>
        </p:nvSpPr>
        <p:spPr>
          <a:xfrm>
            <a:off x="7816850" y="4541520"/>
            <a:ext cx="3395980" cy="575310"/>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Helps in Damage Control</a:t>
            </a:r>
            <a:endParaRPr/>
          </a:p>
        </p:txBody>
      </p:sp>
      <p:sp>
        <p:nvSpPr>
          <p:cNvPr id="183" name="Google Shape;183;p25"/>
          <p:cNvSpPr/>
          <p:nvPr/>
        </p:nvSpPr>
        <p:spPr>
          <a:xfrm>
            <a:off x="172085" y="1922145"/>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25"/>
          <p:cNvSpPr/>
          <p:nvPr/>
        </p:nvSpPr>
        <p:spPr>
          <a:xfrm>
            <a:off x="172085" y="2751455"/>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5" name="Google Shape;185;p25"/>
          <p:cNvSpPr/>
          <p:nvPr/>
        </p:nvSpPr>
        <p:spPr>
          <a:xfrm>
            <a:off x="172085" y="3547745"/>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25"/>
          <p:cNvSpPr/>
          <p:nvPr/>
        </p:nvSpPr>
        <p:spPr>
          <a:xfrm>
            <a:off x="172085" y="4321810"/>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25"/>
          <p:cNvSpPr/>
          <p:nvPr/>
        </p:nvSpPr>
        <p:spPr>
          <a:xfrm>
            <a:off x="172085" y="5179060"/>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25"/>
          <p:cNvSpPr/>
          <p:nvPr/>
        </p:nvSpPr>
        <p:spPr>
          <a:xfrm>
            <a:off x="7416800" y="1991360"/>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25"/>
          <p:cNvSpPr/>
          <p:nvPr/>
        </p:nvSpPr>
        <p:spPr>
          <a:xfrm>
            <a:off x="7416800" y="2914650"/>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25"/>
          <p:cNvSpPr/>
          <p:nvPr/>
        </p:nvSpPr>
        <p:spPr>
          <a:xfrm>
            <a:off x="7416800" y="3918585"/>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25"/>
          <p:cNvSpPr/>
          <p:nvPr/>
        </p:nvSpPr>
        <p:spPr>
          <a:xfrm>
            <a:off x="7416800" y="4752975"/>
            <a:ext cx="277495" cy="278130"/>
          </a:xfrm>
          <a:prstGeom prst="rightArrow">
            <a:avLst>
              <a:gd name="adj1" fmla="val 50000"/>
              <a:gd name="adj2" fmla="val 50000"/>
            </a:avLst>
          </a:pr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192" name="Google Shape;192;p25"/>
          <p:cNvCxnSpPr/>
          <p:nvPr/>
        </p:nvCxnSpPr>
        <p:spPr>
          <a:xfrm flipH="1">
            <a:off x="3567430" y="819150"/>
            <a:ext cx="635" cy="402590"/>
          </a:xfrm>
          <a:prstGeom prst="straightConnector1">
            <a:avLst/>
          </a:prstGeom>
          <a:noFill/>
          <a:ln w="19050" cap="flat" cmpd="sng">
            <a:solidFill>
              <a:schemeClr val="accent1"/>
            </a:solidFill>
            <a:prstDash val="solid"/>
            <a:miter lim="800000"/>
            <a:headEnd type="none" w="sm" len="sm"/>
            <a:tailEnd type="stealth" w="med" len="med"/>
          </a:ln>
        </p:spPr>
      </p:cxnSp>
      <p:cxnSp>
        <p:nvCxnSpPr>
          <p:cNvPr id="193" name="Google Shape;193;p25"/>
          <p:cNvCxnSpPr/>
          <p:nvPr/>
        </p:nvCxnSpPr>
        <p:spPr>
          <a:xfrm>
            <a:off x="6099810" y="1423670"/>
            <a:ext cx="9525" cy="0"/>
          </a:xfrm>
          <a:prstGeom prst="straightConnector1">
            <a:avLst/>
          </a:prstGeom>
          <a:noFill/>
          <a:ln w="9525" cap="flat" cmpd="sng">
            <a:solidFill>
              <a:schemeClr val="accent1"/>
            </a:solidFill>
            <a:prstDash val="solid"/>
            <a:miter lim="800000"/>
            <a:headEnd type="none" w="sm" len="sm"/>
            <a:tailEnd type="stealth" w="med" len="med"/>
          </a:ln>
        </p:spPr>
      </p:cxnSp>
      <p:cxnSp>
        <p:nvCxnSpPr>
          <p:cNvPr id="194" name="Google Shape;194;p25"/>
          <p:cNvCxnSpPr/>
          <p:nvPr/>
        </p:nvCxnSpPr>
        <p:spPr>
          <a:xfrm flipH="1">
            <a:off x="8202930" y="886460"/>
            <a:ext cx="635" cy="402590"/>
          </a:xfrm>
          <a:prstGeom prst="straightConnector1">
            <a:avLst/>
          </a:prstGeom>
          <a:noFill/>
          <a:ln w="19050" cap="flat" cmpd="sng">
            <a:solidFill>
              <a:schemeClr val="accent1"/>
            </a:solidFill>
            <a:prstDash val="solid"/>
            <a:miter lim="800000"/>
            <a:headEnd type="none" w="sm" len="sm"/>
            <a:tailEnd type="stealth"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p:nvPr/>
        </p:nvSpPr>
        <p:spPr>
          <a:xfrm>
            <a:off x="838200" y="191325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inform</a:t>
            </a:r>
            <a:endParaRPr/>
          </a:p>
        </p:txBody>
      </p:sp>
      <p:sp>
        <p:nvSpPr>
          <p:cNvPr id="200" name="Google Shape;200;p26"/>
          <p:cNvSpPr/>
          <p:nvPr/>
        </p:nvSpPr>
        <p:spPr>
          <a:xfrm>
            <a:off x="838200" y="296100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educate</a:t>
            </a:r>
            <a:endParaRPr/>
          </a:p>
        </p:txBody>
      </p:sp>
      <p:sp>
        <p:nvSpPr>
          <p:cNvPr id="201" name="Google Shape;201;p26"/>
          <p:cNvSpPr/>
          <p:nvPr/>
        </p:nvSpPr>
        <p:spPr>
          <a:xfrm>
            <a:off x="838200" y="401637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train</a:t>
            </a:r>
            <a:endParaRPr/>
          </a:p>
        </p:txBody>
      </p:sp>
      <p:sp>
        <p:nvSpPr>
          <p:cNvPr id="202" name="Google Shape;202;p26"/>
          <p:cNvSpPr/>
          <p:nvPr/>
        </p:nvSpPr>
        <p:spPr>
          <a:xfrm>
            <a:off x="838200" y="528955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motivate</a:t>
            </a:r>
            <a:endParaRPr/>
          </a:p>
        </p:txBody>
      </p:sp>
      <p:sp>
        <p:nvSpPr>
          <p:cNvPr id="203" name="Google Shape;203;p26"/>
          <p:cNvSpPr/>
          <p:nvPr/>
        </p:nvSpPr>
        <p:spPr>
          <a:xfrm>
            <a:off x="3956050" y="191325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integrate</a:t>
            </a:r>
            <a:endParaRPr/>
          </a:p>
        </p:txBody>
      </p:sp>
      <p:sp>
        <p:nvSpPr>
          <p:cNvPr id="204" name="Google Shape;204;p26"/>
          <p:cNvSpPr/>
          <p:nvPr/>
        </p:nvSpPr>
        <p:spPr>
          <a:xfrm>
            <a:off x="3956050" y="302641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promote</a:t>
            </a:r>
            <a:endParaRPr/>
          </a:p>
        </p:txBody>
      </p:sp>
      <p:sp>
        <p:nvSpPr>
          <p:cNvPr id="205" name="Google Shape;205;p26"/>
          <p:cNvSpPr/>
          <p:nvPr/>
        </p:nvSpPr>
        <p:spPr>
          <a:xfrm>
            <a:off x="3956050" y="412877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entertain</a:t>
            </a:r>
            <a:endParaRPr/>
          </a:p>
        </p:txBody>
      </p:sp>
      <p:sp>
        <p:nvSpPr>
          <p:cNvPr id="206" name="Google Shape;206;p26"/>
          <p:cNvSpPr/>
          <p:nvPr/>
        </p:nvSpPr>
        <p:spPr>
          <a:xfrm>
            <a:off x="4092575" y="528955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facilitate decision</a:t>
            </a:r>
            <a:endParaRPr/>
          </a:p>
        </p:txBody>
      </p:sp>
      <p:sp>
        <p:nvSpPr>
          <p:cNvPr id="207" name="Google Shape;207;p26"/>
          <p:cNvSpPr/>
          <p:nvPr/>
        </p:nvSpPr>
        <p:spPr>
          <a:xfrm>
            <a:off x="7334885" y="199199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persuade</a:t>
            </a:r>
            <a:endParaRPr/>
          </a:p>
        </p:txBody>
      </p:sp>
      <p:sp>
        <p:nvSpPr>
          <p:cNvPr id="208" name="Google Shape;208;p26"/>
          <p:cNvSpPr/>
          <p:nvPr/>
        </p:nvSpPr>
        <p:spPr>
          <a:xfrm>
            <a:off x="7334885" y="2961005"/>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advise</a:t>
            </a:r>
            <a:endParaRPr/>
          </a:p>
        </p:txBody>
      </p:sp>
      <p:sp>
        <p:nvSpPr>
          <p:cNvPr id="209" name="Google Shape;209;p26"/>
          <p:cNvSpPr/>
          <p:nvPr/>
        </p:nvSpPr>
        <p:spPr>
          <a:xfrm>
            <a:off x="7239000" y="412877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order</a:t>
            </a:r>
            <a:endParaRPr/>
          </a:p>
        </p:txBody>
      </p:sp>
      <p:sp>
        <p:nvSpPr>
          <p:cNvPr id="210" name="Google Shape;210;p26"/>
          <p:cNvSpPr/>
          <p:nvPr/>
        </p:nvSpPr>
        <p:spPr>
          <a:xfrm>
            <a:off x="7334885" y="5289550"/>
            <a:ext cx="2455545" cy="805815"/>
          </a:xfrm>
          <a:prstGeom prst="ellipse">
            <a:avLst/>
          </a:prstGeom>
          <a:solidFill>
            <a:srgbClr val="FFD966"/>
          </a:solidFill>
          <a:ln w="381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833C0B"/>
                </a:solidFill>
                <a:latin typeface="Calibri"/>
                <a:ea typeface="Calibri"/>
                <a:cs typeface="Calibri"/>
                <a:sym typeface="Calibri"/>
              </a:rPr>
              <a:t>To suggest</a:t>
            </a:r>
            <a:endParaRPr/>
          </a:p>
        </p:txBody>
      </p:sp>
      <p:sp>
        <p:nvSpPr>
          <p:cNvPr id="211" name="Google Shape;211;p26"/>
          <p:cNvSpPr/>
          <p:nvPr/>
        </p:nvSpPr>
        <p:spPr>
          <a:xfrm>
            <a:off x="565150" y="521335"/>
            <a:ext cx="9237980" cy="1026160"/>
          </a:xfrm>
          <a:prstGeom prst="rect">
            <a:avLst/>
          </a:prstGeom>
          <a:solidFill>
            <a:srgbClr val="FFD966"/>
          </a:solidFill>
          <a:ln w="5715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a:solidFill>
                  <a:srgbClr val="1F3864"/>
                </a:solidFill>
                <a:latin typeface="Calibri"/>
                <a:ea typeface="Calibri"/>
                <a:cs typeface="Calibri"/>
                <a:sym typeface="Calibri"/>
              </a:rPr>
              <a:t>Objectives of Effective Communication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Significance of Communication</a:t>
            </a:r>
            <a:endParaRPr/>
          </a:p>
        </p:txBody>
      </p:sp>
      <p:pic>
        <p:nvPicPr>
          <p:cNvPr id="217" name="Google Shape;217;p27" descr="unit-24-internal-and-external-communication-5-638"/>
          <p:cNvPicPr preferRelativeResize="0">
            <a:picLocks noGrp="1"/>
          </p:cNvPicPr>
          <p:nvPr>
            <p:ph type="body" idx="1"/>
          </p:nvPr>
        </p:nvPicPr>
        <p:blipFill rotWithShape="1">
          <a:blip r:embed="rId3">
            <a:alphaModFix/>
          </a:blip>
          <a:srcRect/>
          <a:stretch/>
        </p:blipFill>
        <p:spPr>
          <a:xfrm>
            <a:off x="838200" y="2056130"/>
            <a:ext cx="5181600" cy="3890010"/>
          </a:xfrm>
          <a:prstGeom prst="rect">
            <a:avLst/>
          </a:prstGeom>
          <a:noFill/>
          <a:ln>
            <a:noFill/>
          </a:ln>
        </p:spPr>
      </p:pic>
      <p:pic>
        <p:nvPicPr>
          <p:cNvPr id="218" name="Google Shape;218;p27" descr="internal-and-external-communication-4-638"/>
          <p:cNvPicPr preferRelativeResize="0">
            <a:picLocks noGrp="1"/>
          </p:cNvPicPr>
          <p:nvPr>
            <p:ph type="body" idx="2"/>
          </p:nvPr>
        </p:nvPicPr>
        <p:blipFill rotWithShape="1">
          <a:blip r:embed="rId4">
            <a:alphaModFix/>
          </a:blip>
          <a:srcRect/>
          <a:stretch/>
        </p:blipFill>
        <p:spPr>
          <a:xfrm>
            <a:off x="6172200" y="2056130"/>
            <a:ext cx="5181600" cy="389001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24" name="Google Shape;224;p28"/>
          <p:cNvSpPr/>
          <p:nvPr/>
        </p:nvSpPr>
        <p:spPr>
          <a:xfrm>
            <a:off x="1122045" y="521335"/>
            <a:ext cx="8681085" cy="1026160"/>
          </a:xfrm>
          <a:prstGeom prst="rect">
            <a:avLst/>
          </a:prstGeom>
          <a:solidFill>
            <a:srgbClr val="FEE599"/>
          </a:solidFill>
          <a:ln w="5715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a:solidFill>
                  <a:srgbClr val="1F3864"/>
                </a:solidFill>
                <a:latin typeface="Calibri"/>
                <a:ea typeface="Calibri"/>
                <a:cs typeface="Calibri"/>
                <a:sym typeface="Calibri"/>
              </a:rPr>
              <a:t>7Cs of Effective Communication</a:t>
            </a:r>
            <a:endParaRPr/>
          </a:p>
        </p:txBody>
      </p:sp>
      <p:graphicFrame>
        <p:nvGraphicFramePr>
          <p:cNvPr id="225" name="Google Shape;225;p28"/>
          <p:cNvGraphicFramePr/>
          <p:nvPr/>
        </p:nvGraphicFramePr>
        <p:xfrm>
          <a:off x="838200" y="1825625"/>
          <a:ext cx="3000000" cy="3000000"/>
        </p:xfrm>
        <a:graphic>
          <a:graphicData uri="http://schemas.openxmlformats.org/drawingml/2006/table">
            <a:tbl>
              <a:tblPr firstRow="1" bandRow="1">
                <a:noFill/>
                <a:tableStyleId>{D09E89C3-D180-4886-828F-B9B5D138B52B}</a:tableStyleId>
              </a:tblPr>
              <a:tblGrid>
                <a:gridCol w="809000"/>
                <a:gridCol w="3812550"/>
                <a:gridCol w="5894075"/>
              </a:tblGrid>
              <a:tr h="381000">
                <a:tc>
                  <a:txBody>
                    <a:bodyPr/>
                    <a:lstStyle/>
                    <a:p>
                      <a:pPr marL="0" marR="0" lvl="0" indent="0" algn="l" rtl="0">
                        <a:spcBef>
                          <a:spcPts val="0"/>
                        </a:spcBef>
                        <a:spcAft>
                          <a:spcPts val="0"/>
                        </a:spcAft>
                        <a:buClr>
                          <a:srgbClr val="0070C0"/>
                        </a:buClr>
                        <a:buSzPts val="1800"/>
                        <a:buFont typeface="Calibri"/>
                        <a:buNone/>
                      </a:pPr>
                      <a:r>
                        <a:rPr lang="en-US" sz="1800" u="none" strike="noStrike" cap="none">
                          <a:solidFill>
                            <a:srgbClr val="0070C0"/>
                          </a:solidFill>
                        </a:rPr>
                        <a:t>S.No.</a:t>
                      </a:r>
                      <a:endParaRPr/>
                    </a:p>
                  </a:txBody>
                  <a:tcPr marL="91450" marR="91450" marT="45725" marB="45725">
                    <a:solidFill>
                      <a:srgbClr val="FFD966"/>
                    </a:solidFill>
                  </a:tcPr>
                </a:tc>
                <a:tc>
                  <a:txBody>
                    <a:bodyPr/>
                    <a:lstStyle/>
                    <a:p>
                      <a:pPr marL="0" marR="0" lvl="0" indent="0" algn="l" rtl="0">
                        <a:spcBef>
                          <a:spcPts val="0"/>
                        </a:spcBef>
                        <a:spcAft>
                          <a:spcPts val="0"/>
                        </a:spcAft>
                        <a:buClr>
                          <a:srgbClr val="2E75B5"/>
                        </a:buClr>
                        <a:buSzPts val="1800"/>
                        <a:buFont typeface="Calibri"/>
                        <a:buNone/>
                      </a:pPr>
                      <a:r>
                        <a:rPr lang="en-US" sz="1800" u="none" strike="noStrike" cap="none">
                          <a:solidFill>
                            <a:srgbClr val="2E75B5"/>
                          </a:solidFill>
                        </a:rPr>
                        <a:t>7Cs </a:t>
                      </a:r>
                      <a:endParaRPr/>
                    </a:p>
                  </a:txBody>
                  <a:tcPr marL="91450" marR="91450" marT="45725" marB="45725">
                    <a:solidFill>
                      <a:srgbClr val="FFD966"/>
                    </a:solidFill>
                  </a:tcPr>
                </a:tc>
                <a:tc>
                  <a:txBody>
                    <a:bodyPr/>
                    <a:lstStyle/>
                    <a:p>
                      <a:pPr marL="0" marR="0" lvl="0" indent="0" algn="l" rtl="0">
                        <a:spcBef>
                          <a:spcPts val="0"/>
                        </a:spcBef>
                        <a:spcAft>
                          <a:spcPts val="0"/>
                        </a:spcAft>
                        <a:buClr>
                          <a:srgbClr val="2E75B5"/>
                        </a:buClr>
                        <a:buSzPts val="1800"/>
                        <a:buFont typeface="Calibri"/>
                        <a:buNone/>
                      </a:pPr>
                      <a:r>
                        <a:rPr lang="en-US" sz="1800" u="none" strike="noStrike" cap="none">
                          <a:solidFill>
                            <a:srgbClr val="2E75B5"/>
                          </a:solidFill>
                        </a:rPr>
                        <a:t>Short Explanation</a:t>
                      </a:r>
                      <a:endParaRPr/>
                    </a:p>
                  </a:txBody>
                  <a:tcPr marL="91450" marR="91450" marT="45725" marB="45725">
                    <a:solidFill>
                      <a:srgbClr val="FFD966"/>
                    </a:solidFill>
                  </a:tcPr>
                </a:tc>
              </a:tr>
              <a:tr h="544200">
                <a:tc>
                  <a:txBody>
                    <a:bodyPr/>
                    <a:lstStyle/>
                    <a:p>
                      <a:pPr marL="0" marR="0" lvl="0" indent="0" algn="l" rtl="0">
                        <a:spcBef>
                          <a:spcPts val="0"/>
                        </a:spcBef>
                        <a:spcAft>
                          <a:spcPts val="0"/>
                        </a:spcAft>
                        <a:buClr>
                          <a:schemeClr val="dk1"/>
                        </a:buClr>
                        <a:buSzPts val="1800"/>
                        <a:buFont typeface="Calibri"/>
                        <a:buNone/>
                      </a:pPr>
                      <a:r>
                        <a:rPr lang="en-US" sz="1800" u="none" strike="noStrike" cap="none"/>
                        <a:t>1..</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Completeness</a:t>
                      </a:r>
                      <a:endParaRPr sz="1800" u="none" strike="noStrike" cap="none"/>
                    </a:p>
                    <a:p>
                      <a:pPr marL="0" marR="0" lvl="0" indent="0" algn="l" rtl="0">
                        <a:spcBef>
                          <a:spcPts val="0"/>
                        </a:spcBef>
                        <a:spcAft>
                          <a:spcPts val="0"/>
                        </a:spcAft>
                        <a:buClr>
                          <a:schemeClr val="dk1"/>
                        </a:buClr>
                        <a:buSzPts val="1800"/>
                        <a:buFont typeface="Calibri"/>
                        <a:buNone/>
                      </a:pP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Complete the Message</a:t>
                      </a:r>
                      <a:endParaRPr/>
                    </a:p>
                  </a:txBody>
                  <a:tcPr marL="91450" marR="91450" marT="45725" marB="45725">
                    <a:solidFill>
                      <a:srgbClr val="FEE599"/>
                    </a:solidFill>
                  </a:tcPr>
                </a:tc>
              </a:tr>
              <a:tr h="544200">
                <a:tc>
                  <a:txBody>
                    <a:bodyPr/>
                    <a:lstStyle/>
                    <a:p>
                      <a:pPr marL="0" marR="0" lvl="0" indent="0" algn="l" rtl="0">
                        <a:spcBef>
                          <a:spcPts val="0"/>
                        </a:spcBef>
                        <a:spcAft>
                          <a:spcPts val="0"/>
                        </a:spcAft>
                        <a:buClr>
                          <a:schemeClr val="dk1"/>
                        </a:buClr>
                        <a:buSzPts val="1800"/>
                        <a:buFont typeface="Calibri"/>
                        <a:buNone/>
                      </a:pPr>
                      <a:r>
                        <a:rPr lang="en-US" sz="1800" u="none" strike="noStrike" cap="none"/>
                        <a:t>2.</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 Correctness</a:t>
                      </a: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Write Perefectly, Mistakes Free</a:t>
                      </a:r>
                      <a:endParaRPr/>
                    </a:p>
                  </a:txBody>
                  <a:tcPr marL="91450" marR="91450" marT="45725" marB="45725">
                    <a:solidFill>
                      <a:srgbClr val="FEE599"/>
                    </a:solidFill>
                  </a:tcPr>
                </a:tc>
              </a:tr>
              <a:tr h="544200">
                <a:tc>
                  <a:txBody>
                    <a:bodyPr/>
                    <a:lstStyle/>
                    <a:p>
                      <a:pPr marL="0" marR="0" lvl="0" indent="0" algn="l" rtl="0">
                        <a:spcBef>
                          <a:spcPts val="0"/>
                        </a:spcBef>
                        <a:spcAft>
                          <a:spcPts val="0"/>
                        </a:spcAft>
                        <a:buClr>
                          <a:schemeClr val="dk1"/>
                        </a:buClr>
                        <a:buSzPts val="1800"/>
                        <a:buFont typeface="Calibri"/>
                        <a:buNone/>
                      </a:pPr>
                      <a:r>
                        <a:rPr lang="en-US" sz="1800" u="none" strike="noStrike" cap="none"/>
                        <a:t>3.</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 Clarity</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Be clearer in Delivering</a:t>
                      </a:r>
                      <a:endParaRPr/>
                    </a:p>
                  </a:txBody>
                  <a:tcPr marL="91450" marR="91450" marT="45725" marB="45725">
                    <a:solidFill>
                      <a:srgbClr val="FEE599"/>
                    </a:solidFill>
                  </a:tcPr>
                </a:tc>
              </a:tr>
              <a:tr h="381000">
                <a:tc>
                  <a:txBody>
                    <a:bodyPr/>
                    <a:lstStyle/>
                    <a:p>
                      <a:pPr marL="0" marR="0" lvl="0" indent="0" algn="l" rtl="0">
                        <a:spcBef>
                          <a:spcPts val="0"/>
                        </a:spcBef>
                        <a:spcAft>
                          <a:spcPts val="0"/>
                        </a:spcAft>
                        <a:buClr>
                          <a:schemeClr val="dk1"/>
                        </a:buClr>
                        <a:buSzPts val="1800"/>
                        <a:buFont typeface="Calibri"/>
                        <a:buNone/>
                      </a:pPr>
                      <a:r>
                        <a:rPr lang="en-US" sz="1800" u="none" strike="noStrike" cap="none"/>
                        <a:t>4</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Conciseness</a:t>
                      </a: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Be Short, but Complete</a:t>
                      </a:r>
                      <a:endParaRPr/>
                    </a:p>
                  </a:txBody>
                  <a:tcPr marL="91450" marR="91450" marT="45725" marB="45725">
                    <a:solidFill>
                      <a:srgbClr val="FEE599"/>
                    </a:solidFill>
                  </a:tcPr>
                </a:tc>
              </a:tr>
              <a:tr h="381000">
                <a:tc>
                  <a:txBody>
                    <a:bodyPr/>
                    <a:lstStyle/>
                    <a:p>
                      <a:pPr marL="0" marR="0" lvl="0" indent="0" algn="l" rtl="0">
                        <a:spcBef>
                          <a:spcPts val="0"/>
                        </a:spcBef>
                        <a:spcAft>
                          <a:spcPts val="0"/>
                        </a:spcAft>
                        <a:buClr>
                          <a:schemeClr val="dk1"/>
                        </a:buClr>
                        <a:buSzPts val="1800"/>
                        <a:buFont typeface="Calibri"/>
                        <a:buNone/>
                      </a:pPr>
                      <a:r>
                        <a:rPr lang="en-US" sz="1800" u="none" strike="noStrike" cap="none"/>
                        <a:t>5.</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 Courtesy</a:t>
                      </a: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Be Soft &amp; Gentle</a:t>
                      </a:r>
                      <a:endParaRPr/>
                    </a:p>
                  </a:txBody>
                  <a:tcPr marL="91450" marR="91450" marT="45725" marB="45725">
                    <a:solidFill>
                      <a:srgbClr val="FEE599"/>
                    </a:solidFill>
                  </a:tcPr>
                </a:tc>
              </a:tr>
              <a:tr h="381000">
                <a:tc>
                  <a:txBody>
                    <a:bodyPr/>
                    <a:lstStyle/>
                    <a:p>
                      <a:pPr marL="0" marR="0" lvl="0" indent="0" algn="l" rtl="0">
                        <a:spcBef>
                          <a:spcPts val="0"/>
                        </a:spcBef>
                        <a:spcAft>
                          <a:spcPts val="0"/>
                        </a:spcAft>
                        <a:buClr>
                          <a:schemeClr val="dk1"/>
                        </a:buClr>
                        <a:buSzPts val="1800"/>
                        <a:buFont typeface="Calibri"/>
                        <a:buNone/>
                      </a:pPr>
                      <a:r>
                        <a:rPr lang="en-US" sz="1800" u="none" strike="noStrike" cap="none"/>
                        <a:t>6.</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Concreteness</a:t>
                      </a: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Be Specific</a:t>
                      </a:r>
                      <a:endParaRPr sz="1800" u="none" strike="noStrike" cap="none"/>
                    </a:p>
                  </a:txBody>
                  <a:tcPr marL="91450" marR="91450" marT="45725" marB="45725">
                    <a:solidFill>
                      <a:srgbClr val="FEE599"/>
                    </a:solidFill>
                  </a:tcPr>
                </a:tc>
              </a:tr>
              <a:tr h="381000">
                <a:tc>
                  <a:txBody>
                    <a:bodyPr/>
                    <a:lstStyle/>
                    <a:p>
                      <a:pPr marL="0" marR="0" lvl="0" indent="0" algn="l" rtl="0">
                        <a:spcBef>
                          <a:spcPts val="0"/>
                        </a:spcBef>
                        <a:spcAft>
                          <a:spcPts val="0"/>
                        </a:spcAft>
                        <a:buClr>
                          <a:schemeClr val="dk1"/>
                        </a:buClr>
                        <a:buSzPts val="1800"/>
                        <a:buFont typeface="Calibri"/>
                        <a:buNone/>
                      </a:pPr>
                      <a:r>
                        <a:rPr lang="en-US" sz="1800" u="none" strike="noStrike" cap="none"/>
                        <a:t>7.</a:t>
                      </a:r>
                      <a:endParaRPr/>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 Consideration</a:t>
                      </a:r>
                      <a:endParaRPr sz="1800" u="none" strike="noStrike" cap="none"/>
                    </a:p>
                  </a:txBody>
                  <a:tcPr marL="91450" marR="91450" marT="45725" marB="45725">
                    <a:solidFill>
                      <a:srgbClr val="FEE599"/>
                    </a:solidFill>
                  </a:tcPr>
                </a:tc>
                <a:tc>
                  <a:txBody>
                    <a:bodyPr/>
                    <a:lstStyle/>
                    <a:p>
                      <a:pPr marL="0" marR="0" lvl="0" indent="0" algn="l" rtl="0">
                        <a:spcBef>
                          <a:spcPts val="0"/>
                        </a:spcBef>
                        <a:spcAft>
                          <a:spcPts val="0"/>
                        </a:spcAft>
                        <a:buClr>
                          <a:schemeClr val="dk1"/>
                        </a:buClr>
                        <a:buSzPts val="1800"/>
                        <a:buFont typeface="Calibri"/>
                        <a:buNone/>
                      </a:pPr>
                      <a:r>
                        <a:rPr lang="en-US" sz="1800" u="none" strike="noStrike" cap="none"/>
                        <a:t>Focus on Receiver</a:t>
                      </a:r>
                      <a:endParaRPr sz="1800" u="none" strike="noStrike" cap="none"/>
                    </a:p>
                  </a:txBody>
                  <a:tcPr marL="91450" marR="91450" marT="45725" marB="45725">
                    <a:solidFill>
                      <a:srgbClr val="FEE599"/>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1. Completeness of Information</a:t>
            </a:r>
            <a:endParaRPr/>
          </a:p>
        </p:txBody>
      </p:sp>
      <p:sp>
        <p:nvSpPr>
          <p:cNvPr id="231" name="Google Shape;231;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Hi everyone!</a:t>
            </a:r>
            <a:endParaRPr/>
          </a:p>
          <a:p>
            <a:pPr marL="0" lvl="0" indent="0" algn="l" rtl="0">
              <a:lnSpc>
                <a:spcPct val="90000"/>
              </a:lnSpc>
              <a:spcBef>
                <a:spcPts val="1000"/>
              </a:spcBef>
              <a:spcAft>
                <a:spcPts val="0"/>
              </a:spcAft>
              <a:buClr>
                <a:schemeClr val="dk1"/>
              </a:buClr>
              <a:buSzPts val="2800"/>
              <a:buNone/>
            </a:pPr>
            <a:r>
              <a:rPr lang="en-US"/>
              <a:t>I just wanted to send you all a reminder about the meeting tomorrow!</a:t>
            </a:r>
            <a:endParaRPr/>
          </a:p>
          <a:p>
            <a:pPr marL="0" lvl="0" indent="0" algn="l" rtl="0">
              <a:lnSpc>
                <a:spcPct val="90000"/>
              </a:lnSpc>
              <a:spcBef>
                <a:spcPts val="1000"/>
              </a:spcBef>
              <a:spcAft>
                <a:spcPts val="0"/>
              </a:spcAft>
              <a:buClr>
                <a:schemeClr val="dk1"/>
              </a:buClr>
              <a:buSzPts val="2800"/>
              <a:buNone/>
            </a:pPr>
            <a:r>
              <a:rPr lang="en-US"/>
              <a:t>See you then,</a:t>
            </a:r>
            <a:endParaRPr/>
          </a:p>
          <a:p>
            <a:pPr marL="0" lvl="0" indent="0" algn="l" rtl="0">
              <a:lnSpc>
                <a:spcPct val="90000"/>
              </a:lnSpc>
              <a:spcBef>
                <a:spcPts val="1000"/>
              </a:spcBef>
              <a:spcAft>
                <a:spcPts val="0"/>
              </a:spcAft>
              <a:buClr>
                <a:schemeClr val="dk1"/>
              </a:buClr>
              <a:buSzPts val="2800"/>
              <a:buNone/>
            </a:pPr>
            <a:r>
              <a:rPr lang="en-US"/>
              <a:t>Chris</a:t>
            </a:r>
            <a:endParaRPr/>
          </a:p>
        </p:txBody>
      </p:sp>
      <p:sp>
        <p:nvSpPr>
          <p:cNvPr id="232" name="Google Shape;232;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Hi !</a:t>
            </a:r>
            <a:endParaRPr/>
          </a:p>
          <a:p>
            <a:pPr marL="0" lvl="0" indent="0" algn="l" rtl="0">
              <a:lnSpc>
                <a:spcPct val="90000"/>
              </a:lnSpc>
              <a:spcBef>
                <a:spcPts val="1000"/>
              </a:spcBef>
              <a:spcAft>
                <a:spcPts val="0"/>
              </a:spcAft>
              <a:buClr>
                <a:schemeClr val="dk1"/>
              </a:buClr>
              <a:buSzPts val="2800"/>
              <a:buNone/>
            </a:pPr>
            <a:r>
              <a:rPr lang="en-US"/>
              <a:t>I just wanted to remind everyone about tomorrow's meeting on the new telecommuting policies. The meeting will be at 10 am in the second-level conference room. Please let me know if you can attend.</a:t>
            </a:r>
            <a:endParaRPr/>
          </a:p>
          <a:p>
            <a:pPr marL="0" lvl="0" indent="0" algn="l" rtl="0">
              <a:lnSpc>
                <a:spcPct val="90000"/>
              </a:lnSpc>
              <a:spcBef>
                <a:spcPts val="1000"/>
              </a:spcBef>
              <a:spcAft>
                <a:spcPts val="0"/>
              </a:spcAft>
              <a:buClr>
                <a:schemeClr val="dk1"/>
              </a:buClr>
              <a:buSzPts val="2800"/>
              <a:buNone/>
            </a:pPr>
            <a:r>
              <a:rPr lang="en-US"/>
              <a:t>See you then,</a:t>
            </a:r>
            <a:endParaRPr/>
          </a:p>
          <a:p>
            <a:pPr marL="0" lvl="0" indent="0" algn="l" rtl="0">
              <a:lnSpc>
                <a:spcPct val="90000"/>
              </a:lnSpc>
              <a:spcBef>
                <a:spcPts val="1000"/>
              </a:spcBef>
              <a:spcAft>
                <a:spcPts val="0"/>
              </a:spcAft>
              <a:buClr>
                <a:schemeClr val="dk1"/>
              </a:buClr>
              <a:buSzPts val="2800"/>
              <a:buNone/>
            </a:pPr>
            <a:r>
              <a:rPr lang="en-US"/>
              <a:t>Chris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 Correctness of Information</a:t>
            </a:r>
            <a:br>
              <a:rPr lang="en-US" b="1"/>
            </a:br>
            <a:endParaRPr b="1"/>
          </a:p>
        </p:txBody>
      </p:sp>
      <p:sp>
        <p:nvSpPr>
          <p:cNvPr id="238" name="Google Shape;238;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Dear David,</a:t>
            </a:r>
            <a:endParaRPr/>
          </a:p>
          <a:p>
            <a:pPr marL="228600" lvl="0" indent="-228600" algn="l" rtl="0">
              <a:lnSpc>
                <a:spcPct val="90000"/>
              </a:lnSpc>
              <a:spcBef>
                <a:spcPts val="1000"/>
              </a:spcBef>
              <a:spcAft>
                <a:spcPts val="0"/>
              </a:spcAft>
              <a:buClr>
                <a:schemeClr val="dk1"/>
              </a:buClr>
              <a:buSzPts val="2800"/>
              <a:buChar char="•"/>
            </a:pPr>
            <a:r>
              <a:rPr lang="en-US"/>
              <a:t>Further to our conservation today, I am attaching the plan for the first stage of the project. Hope the one weak deadline is okay with you and your team.</a:t>
            </a:r>
            <a:endParaRPr/>
          </a:p>
          <a:p>
            <a:pPr marL="228600" lvl="0" indent="-228600" algn="l" rtl="0">
              <a:lnSpc>
                <a:spcPct val="90000"/>
              </a:lnSpc>
              <a:spcBef>
                <a:spcPts val="1000"/>
              </a:spcBef>
              <a:spcAft>
                <a:spcPts val="0"/>
              </a:spcAft>
              <a:buClr>
                <a:schemeClr val="dk1"/>
              </a:buClr>
              <a:buSzPts val="2800"/>
              <a:buChar char="•"/>
            </a:pPr>
            <a:r>
              <a:rPr lang="en-US"/>
              <a:t>Regards</a:t>
            </a:r>
            <a:br>
              <a:rPr lang="en-US"/>
            </a:br>
            <a:r>
              <a:rPr lang="en-US"/>
              <a:t>Sally</a:t>
            </a:r>
            <a:endParaRPr/>
          </a:p>
          <a:p>
            <a:pPr marL="228600" lvl="0" indent="-50800" algn="l" rtl="0">
              <a:lnSpc>
                <a:spcPct val="90000"/>
              </a:lnSpc>
              <a:spcBef>
                <a:spcPts val="1000"/>
              </a:spcBef>
              <a:spcAft>
                <a:spcPts val="0"/>
              </a:spcAft>
              <a:buClr>
                <a:schemeClr val="dk1"/>
              </a:buClr>
              <a:buSzPts val="2800"/>
              <a:buNone/>
            </a:pPr>
            <a:endParaRPr/>
          </a:p>
        </p:txBody>
      </p:sp>
      <p:sp>
        <p:nvSpPr>
          <p:cNvPr id="239" name="Google Shape;239;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spellings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3.Conciseness</a:t>
            </a:r>
            <a:endParaRPr/>
          </a:p>
        </p:txBody>
      </p:sp>
      <p:sp>
        <p:nvSpPr>
          <p:cNvPr id="245" name="Google Shape;245;p3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None/>
            </a:pPr>
            <a:r>
              <a:rPr lang="en-US"/>
              <a:t>    Hi Suzanne</a:t>
            </a:r>
            <a:endParaRPr/>
          </a:p>
          <a:p>
            <a:pPr marL="228600" lvl="0" indent="-228600" algn="l" rtl="0">
              <a:lnSpc>
                <a:spcPct val="90000"/>
              </a:lnSpc>
              <a:spcBef>
                <a:spcPts val="1000"/>
              </a:spcBef>
              <a:spcAft>
                <a:spcPts val="0"/>
              </a:spcAft>
              <a:buClr>
                <a:schemeClr val="dk1"/>
              </a:buClr>
              <a:buSzPct val="100000"/>
              <a:buNone/>
            </a:pPr>
            <a:r>
              <a:rPr lang="en-US"/>
              <a:t>    I think we need to talk about the CSR campaign, I mean the one which we need to do as a quarterly exercise. I think it is a great way of enhancing our brand image. Basically, it would just be a visit to an orphanage but we can sort of do other things too. For instance, we could take the kids out for a short trip to a nearby park or zoo. Let us sit and talk tomorrow.</a:t>
            </a:r>
            <a:endParaRPr/>
          </a:p>
          <a:p>
            <a:pPr marL="228600" lvl="0" indent="-228600" algn="l" rtl="0">
              <a:lnSpc>
                <a:spcPct val="90000"/>
              </a:lnSpc>
              <a:spcBef>
                <a:spcPts val="1000"/>
              </a:spcBef>
              <a:spcAft>
                <a:spcPts val="0"/>
              </a:spcAft>
              <a:buClr>
                <a:schemeClr val="dk1"/>
              </a:buClr>
              <a:buSzPct val="100000"/>
              <a:buNone/>
            </a:pPr>
            <a:r>
              <a:rPr lang="en-US"/>
              <a:t>    Regards</a:t>
            </a:r>
            <a:br>
              <a:rPr lang="en-US"/>
            </a:br>
            <a:r>
              <a:rPr lang="en-US"/>
              <a:t>Jennifer</a:t>
            </a:r>
            <a:endParaRPr/>
          </a:p>
          <a:p>
            <a:pPr marL="228600" lvl="0" indent="-228600" algn="l" rtl="0">
              <a:lnSpc>
                <a:spcPct val="90000"/>
              </a:lnSpc>
              <a:spcBef>
                <a:spcPts val="1000"/>
              </a:spcBef>
              <a:spcAft>
                <a:spcPts val="0"/>
              </a:spcAft>
              <a:buClr>
                <a:schemeClr val="dk1"/>
              </a:buClr>
              <a:buSzPct val="100000"/>
              <a:buNone/>
            </a:pPr>
            <a:r>
              <a:rPr lang="en-US"/>
              <a:t/>
            </a:r>
            <a:br>
              <a:rPr lang="en-US"/>
            </a:br>
            <a:endParaRPr/>
          </a:p>
        </p:txBody>
      </p:sp>
      <p:sp>
        <p:nvSpPr>
          <p:cNvPr id="246" name="Google Shape;246;p3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None/>
            </a:pPr>
            <a:r>
              <a:rPr lang="en-US"/>
              <a:t>    Hi Suzanne</a:t>
            </a:r>
            <a:endParaRPr/>
          </a:p>
          <a:p>
            <a:pPr marL="228600" lvl="0" indent="-228600" algn="l" rtl="0">
              <a:lnSpc>
                <a:spcPct val="90000"/>
              </a:lnSpc>
              <a:spcBef>
                <a:spcPts val="1000"/>
              </a:spcBef>
              <a:spcAft>
                <a:spcPts val="0"/>
              </a:spcAft>
              <a:buClr>
                <a:schemeClr val="dk1"/>
              </a:buClr>
              <a:buSzPct val="100000"/>
              <a:buNone/>
            </a:pPr>
            <a:r>
              <a:rPr lang="en-US"/>
              <a:t>    I need to discuss the quarterly CSR campaign with you. Let us take the kids out this time to a nearby park or zoo instead of just visiting them. This will help enhance our brand image. We’ll talk in detail tomorrow.</a:t>
            </a:r>
            <a:endParaRPr/>
          </a:p>
          <a:p>
            <a:pPr marL="228600" lvl="0" indent="-228600" algn="l" rtl="0">
              <a:lnSpc>
                <a:spcPct val="90000"/>
              </a:lnSpc>
              <a:spcBef>
                <a:spcPts val="1000"/>
              </a:spcBef>
              <a:spcAft>
                <a:spcPts val="0"/>
              </a:spcAft>
              <a:buClr>
                <a:schemeClr val="dk1"/>
              </a:buClr>
              <a:buSzPct val="100000"/>
              <a:buNone/>
            </a:pPr>
            <a:r>
              <a:rPr lang="en-US"/>
              <a:t>    Regards</a:t>
            </a:r>
            <a:br>
              <a:rPr lang="en-US"/>
            </a:br>
            <a:r>
              <a:rPr lang="en-US"/>
              <a:t>Jennifer</a:t>
            </a: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4.Concrete</a:t>
            </a:r>
            <a:r>
              <a:rPr lang="en-US"/>
              <a:t/>
            </a:r>
            <a:br>
              <a:rPr lang="en-US"/>
            </a:br>
            <a:endParaRPr/>
          </a:p>
        </p:txBody>
      </p:sp>
      <p:sp>
        <p:nvSpPr>
          <p:cNvPr id="252" name="Google Shape;252;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“Hilltop Resort is the best resort. Do come to us on your next holiday”</a:t>
            </a:r>
            <a:endParaRPr/>
          </a:p>
          <a:p>
            <a:pPr marL="228600" lvl="0" indent="-228600" algn="l" rtl="0">
              <a:lnSpc>
                <a:spcPct val="90000"/>
              </a:lnSpc>
              <a:spcBef>
                <a:spcPts val="1000"/>
              </a:spcBef>
              <a:spcAft>
                <a:spcPts val="0"/>
              </a:spcAft>
              <a:buClr>
                <a:schemeClr val="dk1"/>
              </a:buClr>
              <a:buSzPct val="100000"/>
              <a:buChar char="•"/>
            </a:pPr>
            <a:r>
              <a:rPr lang="en-US"/>
              <a:t>This is a vague ad message. It is made to sound like just another resort advertisement among a hundred others. The audience will never remember this ad message. There are no concrete details to take away from this message.</a:t>
            </a:r>
            <a:endParaRPr/>
          </a:p>
          <a:p>
            <a:pPr marL="228600" lvl="0" indent="-228600" algn="l" rtl="0">
              <a:lnSpc>
                <a:spcPct val="90000"/>
              </a:lnSpc>
              <a:spcBef>
                <a:spcPts val="1000"/>
              </a:spcBef>
              <a:spcAft>
                <a:spcPts val="0"/>
              </a:spcAft>
              <a:buClr>
                <a:schemeClr val="dk1"/>
              </a:buClr>
              <a:buSzPct val="100000"/>
              <a:buChar char="•"/>
            </a:pPr>
            <a:r>
              <a:rPr lang="en-US"/>
              <a:t/>
            </a:r>
            <a:br>
              <a:rPr lang="en-US"/>
            </a:br>
            <a:endParaRPr/>
          </a:p>
        </p:txBody>
      </p:sp>
      <p:sp>
        <p:nvSpPr>
          <p:cNvPr id="253" name="Google Shape;253;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“Hilltop Resort is the jewel of the western hills. Take a break from your work. Escape from life’s chaos and stress. Relax and rejuvenate yourself at Hilltop. Go back fresh and energized!”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5. Coherent</a:t>
            </a:r>
            <a:r>
              <a:rPr lang="en-US"/>
              <a:t/>
            </a:r>
            <a:br>
              <a:rPr lang="en-US"/>
            </a:br>
            <a:endParaRPr/>
          </a:p>
        </p:txBody>
      </p:sp>
      <p:sp>
        <p:nvSpPr>
          <p:cNvPr id="259" name="Google Shape;259;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Dear Nam,</a:t>
            </a:r>
            <a:endParaRPr/>
          </a:p>
          <a:p>
            <a:pPr marL="228600" lvl="0" indent="-228600" algn="l" rtl="0">
              <a:lnSpc>
                <a:spcPct val="90000"/>
              </a:lnSpc>
              <a:spcBef>
                <a:spcPts val="1000"/>
              </a:spcBef>
              <a:spcAft>
                <a:spcPts val="0"/>
              </a:spcAft>
              <a:buClr>
                <a:schemeClr val="dk1"/>
              </a:buClr>
              <a:buSzPts val="2800"/>
              <a:buChar char="•"/>
            </a:pPr>
            <a:r>
              <a:rPr lang="en-US"/>
              <a:t>Thanks for submitting the industry report. Finn will give you some feedback on it. Finn also wanted to find out if you will be available for the client meeting tomorrow. We will be discussing the budget for the next phase of the project.</a:t>
            </a:r>
            <a:endParaRPr/>
          </a:p>
          <a:p>
            <a:pPr marL="228600" lvl="0" indent="-228600" algn="l" rtl="0">
              <a:lnSpc>
                <a:spcPct val="90000"/>
              </a:lnSpc>
              <a:spcBef>
                <a:spcPts val="1000"/>
              </a:spcBef>
              <a:spcAft>
                <a:spcPts val="0"/>
              </a:spcAft>
              <a:buClr>
                <a:schemeClr val="dk1"/>
              </a:buClr>
              <a:buSzPts val="2800"/>
              <a:buChar char="•"/>
            </a:pPr>
            <a:r>
              <a:rPr lang="en-US"/>
              <a:t>Regards</a:t>
            </a:r>
            <a:br>
              <a:rPr lang="en-US"/>
            </a:br>
            <a:r>
              <a:rPr lang="en-US"/>
              <a:t>Shirley</a:t>
            </a:r>
            <a:endParaRPr/>
          </a:p>
          <a:p>
            <a:pPr marL="228600" lvl="0" indent="-50800" algn="l" rtl="0">
              <a:lnSpc>
                <a:spcPct val="90000"/>
              </a:lnSpc>
              <a:spcBef>
                <a:spcPts val="1000"/>
              </a:spcBef>
              <a:spcAft>
                <a:spcPts val="0"/>
              </a:spcAft>
              <a:buClr>
                <a:schemeClr val="dk1"/>
              </a:buClr>
              <a:buSzPts val="2800"/>
              <a:buNone/>
            </a:pPr>
            <a:endParaRPr/>
          </a:p>
        </p:txBody>
      </p:sp>
      <p:sp>
        <p:nvSpPr>
          <p:cNvPr id="260" name="Google Shape;260;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Dear Nam,</a:t>
            </a:r>
            <a:endParaRPr/>
          </a:p>
          <a:p>
            <a:pPr marL="228600" lvl="0" indent="-228600" algn="l" rtl="0">
              <a:lnSpc>
                <a:spcPct val="90000"/>
              </a:lnSpc>
              <a:spcBef>
                <a:spcPts val="1000"/>
              </a:spcBef>
              <a:spcAft>
                <a:spcPts val="0"/>
              </a:spcAft>
              <a:buClr>
                <a:schemeClr val="dk1"/>
              </a:buClr>
              <a:buSzPts val="2800"/>
              <a:buChar char="•"/>
            </a:pPr>
            <a:r>
              <a:rPr lang="en-US"/>
              <a:t>Thanks for submitting the industry report. Finn will give you some feedback on it. You will be receiving an email from him with detailed comments.</a:t>
            </a:r>
            <a:endParaRPr/>
          </a:p>
          <a:p>
            <a:pPr marL="228600" lvl="0" indent="-228600" algn="l" rtl="0">
              <a:lnSpc>
                <a:spcPct val="90000"/>
              </a:lnSpc>
              <a:spcBef>
                <a:spcPts val="1000"/>
              </a:spcBef>
              <a:spcAft>
                <a:spcPts val="0"/>
              </a:spcAft>
              <a:buClr>
                <a:schemeClr val="dk1"/>
              </a:buClr>
              <a:buSzPts val="2800"/>
              <a:buChar char="•"/>
            </a:pPr>
            <a:r>
              <a:rPr lang="en-US"/>
              <a:t>Regards</a:t>
            </a:r>
            <a:br>
              <a:rPr lang="en-US"/>
            </a:br>
            <a:r>
              <a:rPr lang="en-US"/>
              <a:t>Shirley</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6. Courteous</a:t>
            </a:r>
            <a:r>
              <a:rPr lang="en-US"/>
              <a:t/>
            </a:r>
            <a:br>
              <a:rPr lang="en-US"/>
            </a:br>
            <a:endParaRPr/>
          </a:p>
        </p:txBody>
      </p:sp>
      <p:sp>
        <p:nvSpPr>
          <p:cNvPr id="266" name="Google Shape;266;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Hi Drew,</a:t>
            </a:r>
            <a:endParaRPr/>
          </a:p>
          <a:p>
            <a:pPr marL="228600" lvl="0" indent="-228600" algn="l" rtl="0">
              <a:lnSpc>
                <a:spcPct val="90000"/>
              </a:lnSpc>
              <a:spcBef>
                <a:spcPts val="1000"/>
              </a:spcBef>
              <a:spcAft>
                <a:spcPts val="0"/>
              </a:spcAft>
              <a:buClr>
                <a:schemeClr val="dk1"/>
              </a:buClr>
              <a:buSzPct val="100000"/>
              <a:buChar char="•"/>
            </a:pPr>
            <a:r>
              <a:rPr lang="en-US"/>
              <a:t>I really do not appreciate how your IT team ignores the requests of my team alone. My team is an important function in this organization too and we have our own IT requirement. Can you ensure that your team responds promptly to my team’s requests hereon?</a:t>
            </a:r>
            <a:endParaRPr/>
          </a:p>
          <a:p>
            <a:pPr marL="228600" lvl="0" indent="-228600" algn="l" rtl="0">
              <a:lnSpc>
                <a:spcPct val="90000"/>
              </a:lnSpc>
              <a:spcBef>
                <a:spcPts val="1000"/>
              </a:spcBef>
              <a:spcAft>
                <a:spcPts val="0"/>
              </a:spcAft>
              <a:buClr>
                <a:schemeClr val="dk1"/>
              </a:buClr>
              <a:buSzPct val="100000"/>
              <a:buChar char="•"/>
            </a:pPr>
            <a:r>
              <a:rPr lang="en-US"/>
              <a:t>Regards</a:t>
            </a:r>
            <a:br>
              <a:rPr lang="en-US"/>
            </a:br>
            <a:r>
              <a:rPr lang="en-US"/>
              <a:t>Stanley</a:t>
            </a:r>
            <a:endParaRPr/>
          </a:p>
          <a:p>
            <a:pPr marL="228600" lvl="0" indent="-77470" algn="l" rtl="0">
              <a:lnSpc>
                <a:spcPct val="90000"/>
              </a:lnSpc>
              <a:spcBef>
                <a:spcPts val="1000"/>
              </a:spcBef>
              <a:spcAft>
                <a:spcPts val="0"/>
              </a:spcAft>
              <a:buClr>
                <a:schemeClr val="dk1"/>
              </a:buClr>
              <a:buSzPct val="100000"/>
              <a:buNone/>
            </a:pPr>
            <a:endParaRPr/>
          </a:p>
        </p:txBody>
      </p:sp>
      <p:sp>
        <p:nvSpPr>
          <p:cNvPr id="267" name="Google Shape;267;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Hi Drew,</a:t>
            </a:r>
            <a:endParaRPr/>
          </a:p>
          <a:p>
            <a:pPr marL="228600" lvl="0" indent="-228600" algn="l" rtl="0">
              <a:lnSpc>
                <a:spcPct val="90000"/>
              </a:lnSpc>
              <a:spcBef>
                <a:spcPts val="1000"/>
              </a:spcBef>
              <a:spcAft>
                <a:spcPts val="0"/>
              </a:spcAft>
              <a:buClr>
                <a:schemeClr val="dk1"/>
              </a:buClr>
              <a:buSzPct val="100000"/>
              <a:buChar char="•"/>
            </a:pPr>
            <a:r>
              <a:rPr lang="en-US"/>
              <a:t>I understand that the IT team is swamped with work and gets requests from every department in the organization. My team, however, is working on a high-priority project and I would greatly appreciate if you could ask your team members to respond to my team’s queries promptly and help us complete this project on time. Please do let me know if you need anything from me.</a:t>
            </a:r>
            <a:endParaRPr/>
          </a:p>
          <a:p>
            <a:pPr marL="228600" lvl="0" indent="-228600" algn="l" rtl="0">
              <a:lnSpc>
                <a:spcPct val="90000"/>
              </a:lnSpc>
              <a:spcBef>
                <a:spcPts val="1000"/>
              </a:spcBef>
              <a:spcAft>
                <a:spcPts val="0"/>
              </a:spcAft>
              <a:buClr>
                <a:schemeClr val="dk1"/>
              </a:buClr>
              <a:buSzPct val="100000"/>
              <a:buChar char="•"/>
            </a:pPr>
            <a:r>
              <a:rPr lang="en-US"/>
              <a:t>Regards</a:t>
            </a:r>
            <a:br>
              <a:rPr lang="en-US"/>
            </a:br>
            <a:r>
              <a:rPr lang="en-US"/>
              <a:t>Stanley</a:t>
            </a: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7. Clarity</a:t>
            </a:r>
            <a:endParaRPr/>
          </a:p>
        </p:txBody>
      </p:sp>
      <p:sp>
        <p:nvSpPr>
          <p:cNvPr id="273" name="Google Shape;273;p3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Hi Drew,</a:t>
            </a:r>
            <a:endParaRPr/>
          </a:p>
          <a:p>
            <a:pPr marL="228600" lvl="0" indent="-228600" algn="l" rtl="0">
              <a:lnSpc>
                <a:spcPct val="90000"/>
              </a:lnSpc>
              <a:spcBef>
                <a:spcPts val="1000"/>
              </a:spcBef>
              <a:spcAft>
                <a:spcPts val="0"/>
              </a:spcAft>
              <a:buClr>
                <a:schemeClr val="dk1"/>
              </a:buClr>
              <a:buSzPct val="100000"/>
              <a:buChar char="•"/>
            </a:pPr>
            <a:r>
              <a:rPr lang="en-US"/>
              <a:t>I understand that the IT team is swamped with work and gets requests from every department in the organization. My team, however, is working on a high-priority project and I would greatly appreciate if you could ask your team members to respond to my team’s queries promptly and help us complete this project on time. Please do let me know if you need anything from me.</a:t>
            </a:r>
            <a:endParaRPr/>
          </a:p>
          <a:p>
            <a:pPr marL="228600" lvl="0" indent="-228600" algn="l" rtl="0">
              <a:lnSpc>
                <a:spcPct val="90000"/>
              </a:lnSpc>
              <a:spcBef>
                <a:spcPts val="1000"/>
              </a:spcBef>
              <a:spcAft>
                <a:spcPts val="0"/>
              </a:spcAft>
              <a:buClr>
                <a:schemeClr val="dk1"/>
              </a:buClr>
              <a:buSzPct val="100000"/>
              <a:buChar char="•"/>
            </a:pPr>
            <a:r>
              <a:rPr lang="en-US"/>
              <a:t>Regards</a:t>
            </a:r>
            <a:br>
              <a:rPr lang="en-US"/>
            </a:br>
            <a:r>
              <a:rPr lang="en-US"/>
              <a:t>Stanley</a:t>
            </a:r>
            <a:endParaRPr/>
          </a:p>
          <a:p>
            <a:pPr marL="228600" lvl="0" indent="-77470" algn="l" rtl="0">
              <a:lnSpc>
                <a:spcPct val="90000"/>
              </a:lnSpc>
              <a:spcBef>
                <a:spcPts val="1000"/>
              </a:spcBef>
              <a:spcAft>
                <a:spcPts val="0"/>
              </a:spcAft>
              <a:buClr>
                <a:schemeClr val="dk1"/>
              </a:buClr>
              <a:buSzPct val="100000"/>
              <a:buNone/>
            </a:pPr>
            <a:endParaRPr/>
          </a:p>
        </p:txBody>
      </p:sp>
      <p:sp>
        <p:nvSpPr>
          <p:cNvPr id="274" name="Google Shape;274;p3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Dear James,</a:t>
            </a:r>
            <a:endParaRPr/>
          </a:p>
          <a:p>
            <a:pPr marL="228600" lvl="0" indent="-228600" algn="l" rtl="0">
              <a:lnSpc>
                <a:spcPct val="90000"/>
              </a:lnSpc>
              <a:spcBef>
                <a:spcPts val="1000"/>
              </a:spcBef>
              <a:spcAft>
                <a:spcPts val="0"/>
              </a:spcAft>
              <a:buClr>
                <a:schemeClr val="dk1"/>
              </a:buClr>
              <a:buSzPct val="100000"/>
              <a:buChar char="•"/>
            </a:pPr>
            <a:r>
              <a:rPr lang="en-US"/>
              <a:t>As you may know we have signed up XYZ as our new client. I had a meeting with the engineering team yesterday and had discussed the campaign requirements for this project. John Redden from your team had done a pretty good job last time doing the social media campaign for ABC and so I would like him to work on the XYZ campaign too. Would you be available sometime tomorrow to discuss this further?</a:t>
            </a:r>
            <a:endParaRPr/>
          </a:p>
          <a:p>
            <a:pPr marL="228600" lvl="0" indent="-228600" algn="l" rtl="0">
              <a:lnSpc>
                <a:spcPct val="90000"/>
              </a:lnSpc>
              <a:spcBef>
                <a:spcPts val="1000"/>
              </a:spcBef>
              <a:spcAft>
                <a:spcPts val="0"/>
              </a:spcAft>
              <a:buClr>
                <a:schemeClr val="dk1"/>
              </a:buClr>
              <a:buSzPct val="100000"/>
              <a:buChar char="•"/>
            </a:pPr>
            <a:r>
              <a:rPr lang="en-US"/>
              <a:t>Regards</a:t>
            </a:r>
            <a:br>
              <a:rPr lang="en-US"/>
            </a:br>
            <a:r>
              <a:rPr lang="en-US"/>
              <a:t>Kevin</a:t>
            </a: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Technical communication</a:t>
            </a:r>
            <a:endParaRPr/>
          </a:p>
        </p:txBody>
      </p:sp>
      <p:sp>
        <p:nvSpPr>
          <p:cNvPr id="280" name="Google Shape;280;p36"/>
          <p:cNvSpPr txBox="1">
            <a:spLocks noGrp="1"/>
          </p:cNvSpPr>
          <p:nvPr>
            <p:ph type="body" idx="1"/>
          </p:nvPr>
        </p:nvSpPr>
        <p:spPr>
          <a:xfrm>
            <a:off x="838199" y="1825625"/>
            <a:ext cx="10481441"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Technical communication</a:t>
            </a:r>
            <a:r>
              <a:rPr lang="en-US"/>
              <a:t> is a means to convey scientific, engineering, or other technical information.</a:t>
            </a:r>
            <a:r>
              <a:rPr lang="en-US" u="sng" baseline="30000">
                <a:solidFill>
                  <a:schemeClr val="hlink"/>
                </a:solidFill>
                <a:hlinkClick r:id="rId3"/>
              </a:rPr>
              <a:t>[1]</a:t>
            </a:r>
            <a:r>
              <a:rPr lang="en-US"/>
              <a:t> Individuals in a variety of contexts and with varied professional credentials engage in technical communication. Some individuals are designated as technical communicators or </a:t>
            </a:r>
            <a:r>
              <a:rPr lang="en-US" u="sng">
                <a:solidFill>
                  <a:schemeClr val="hlink"/>
                </a:solidFill>
                <a:hlinkClick r:id="rId4"/>
              </a:rPr>
              <a:t>technical writers</a:t>
            </a:r>
            <a:r>
              <a:rPr lang="en-US"/>
              <a:t>.</a:t>
            </a:r>
            <a:endParaRPr/>
          </a:p>
          <a:p>
            <a:pPr marL="228600" lvl="0" indent="-228600" algn="l" rtl="0">
              <a:lnSpc>
                <a:spcPct val="90000"/>
              </a:lnSpc>
              <a:spcBef>
                <a:spcPts val="1000"/>
              </a:spcBef>
              <a:spcAft>
                <a:spcPts val="0"/>
              </a:spcAft>
              <a:buClr>
                <a:schemeClr val="dk1"/>
              </a:buClr>
              <a:buSzPts val="2800"/>
              <a:buChar char="•"/>
            </a:pPr>
            <a:r>
              <a:rPr lang="en-US"/>
              <a:t>ITC (</a:t>
            </a:r>
            <a:r>
              <a:rPr lang="en-US" i="1"/>
              <a:t>integrated technical communication) </a:t>
            </a:r>
            <a:r>
              <a:rPr lang="en-US"/>
              <a:t>can be defined as</a:t>
            </a:r>
            <a:r>
              <a:rPr lang="en-US" i="1"/>
              <a:t> the coordination and integration of all technical communication processes, tools, functions, and sources within an organization to convey information and knowledge relevant to optimizing the users’ product experience.</a:t>
            </a:r>
            <a:endParaRPr/>
          </a:p>
        </p:txBody>
      </p:sp>
      <p:sp>
        <p:nvSpPr>
          <p:cNvPr id="281" name="Google Shape;281;p36"/>
          <p:cNvSpPr txBox="1">
            <a:spLocks noGrp="1"/>
          </p:cNvSpPr>
          <p:nvPr>
            <p:ph type="body" idx="2"/>
          </p:nvPr>
        </p:nvSpPr>
        <p:spPr>
          <a:xfrm>
            <a:off x="11308080" y="1825625"/>
            <a:ext cx="45719"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87" name="Google Shape;287;p37"/>
          <p:cNvSpPr txBox="1">
            <a:spLocks noGrp="1"/>
          </p:cNvSpPr>
          <p:nvPr>
            <p:ph type="body" idx="1"/>
          </p:nvPr>
        </p:nvSpPr>
        <p:spPr>
          <a:xfrm>
            <a:off x="838200" y="1825625"/>
            <a:ext cx="10465676"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u="sng">
                <a:solidFill>
                  <a:schemeClr val="hlink"/>
                </a:solidFill>
                <a:hlinkClick r:id="rId3"/>
              </a:rPr>
              <a:t>Technical writing</a:t>
            </a:r>
            <a:r>
              <a:rPr lang="en-US"/>
              <a:t> comprises the largest segment of technical communications.  </a:t>
            </a:r>
            <a:endParaRPr/>
          </a:p>
          <a:p>
            <a:pPr marL="228600" lvl="0" indent="-228600" algn="l" rtl="0">
              <a:lnSpc>
                <a:spcPct val="90000"/>
              </a:lnSpc>
              <a:spcBef>
                <a:spcPts val="1000"/>
              </a:spcBef>
              <a:spcAft>
                <a:spcPts val="0"/>
              </a:spcAft>
              <a:buClr>
                <a:schemeClr val="dk1"/>
              </a:buClr>
              <a:buSzPts val="2800"/>
              <a:buChar char="•"/>
            </a:pPr>
            <a:r>
              <a:rPr lang="en-US"/>
              <a:t>It includes various forms of communication, including specialized information and instructional materials for technical and scientific items, such as computer hardware and software, and manufacturing or research equipment</a:t>
            </a:r>
            <a:r>
              <a:rPr lang="en-US" b="1"/>
              <a:t>.</a:t>
            </a:r>
            <a:endParaRPr/>
          </a:p>
          <a:p>
            <a:pPr marL="228600" lvl="0" indent="-228600" algn="l" rtl="0">
              <a:lnSpc>
                <a:spcPct val="90000"/>
              </a:lnSpc>
              <a:spcBef>
                <a:spcPts val="1000"/>
              </a:spcBef>
              <a:spcAft>
                <a:spcPts val="0"/>
              </a:spcAft>
              <a:buClr>
                <a:schemeClr val="dk1"/>
              </a:buClr>
              <a:buSzPts val="2800"/>
              <a:buChar char="•"/>
            </a:pPr>
            <a:r>
              <a:rPr lang="en-US"/>
              <a:t>It covers diverse disciplines, including technical editing/writing, instructional design, training, translation, information architecture, user experience design, document design</a:t>
            </a:r>
            <a:endParaRPr/>
          </a:p>
        </p:txBody>
      </p:sp>
      <p:sp>
        <p:nvSpPr>
          <p:cNvPr id="288" name="Google Shape;288;p37"/>
          <p:cNvSpPr txBox="1">
            <a:spLocks noGrp="1"/>
          </p:cNvSpPr>
          <p:nvPr>
            <p:ph type="body" idx="2"/>
          </p:nvPr>
        </p:nvSpPr>
        <p:spPr>
          <a:xfrm flipH="1">
            <a:off x="11353799" y="1825625"/>
            <a:ext cx="45719"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Characteristics of Technical Communication</a:t>
            </a:r>
            <a:endParaRPr/>
          </a:p>
        </p:txBody>
      </p:sp>
      <p:sp>
        <p:nvSpPr>
          <p:cNvPr id="294" name="Google Shape;294;p38"/>
          <p:cNvSpPr txBox="1">
            <a:spLocks noGrp="1"/>
          </p:cNvSpPr>
          <p:nvPr>
            <p:ph type="body" idx="1"/>
          </p:nvPr>
        </p:nvSpPr>
        <p:spPr>
          <a:xfrm>
            <a:off x="838200" y="1825625"/>
            <a:ext cx="1044991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Addresses particular readers;</a:t>
            </a:r>
            <a:endParaRPr/>
          </a:p>
          <a:p>
            <a:pPr marL="228600" lvl="0" indent="-228600" algn="l" rtl="0">
              <a:lnSpc>
                <a:spcPct val="90000"/>
              </a:lnSpc>
              <a:spcBef>
                <a:spcPts val="1000"/>
              </a:spcBef>
              <a:spcAft>
                <a:spcPts val="0"/>
              </a:spcAft>
              <a:buClr>
                <a:schemeClr val="dk1"/>
              </a:buClr>
              <a:buSzPts val="2800"/>
              <a:buChar char="•"/>
            </a:pPr>
            <a:r>
              <a:rPr lang="en-US"/>
              <a:t>Helps readers solve problems;</a:t>
            </a:r>
            <a:endParaRPr/>
          </a:p>
          <a:p>
            <a:pPr marL="228600" lvl="0" indent="-228600" algn="l" rtl="0">
              <a:lnSpc>
                <a:spcPct val="90000"/>
              </a:lnSpc>
              <a:spcBef>
                <a:spcPts val="1000"/>
              </a:spcBef>
              <a:spcAft>
                <a:spcPts val="0"/>
              </a:spcAft>
              <a:buClr>
                <a:schemeClr val="dk1"/>
              </a:buClr>
              <a:buSzPts val="2800"/>
              <a:buChar char="•"/>
            </a:pPr>
            <a:r>
              <a:rPr lang="en-US"/>
              <a:t>Reflects an organization's goals and culture;</a:t>
            </a:r>
            <a:endParaRPr/>
          </a:p>
          <a:p>
            <a:pPr marL="228600" lvl="0" indent="-228600" algn="l" rtl="0">
              <a:lnSpc>
                <a:spcPct val="90000"/>
              </a:lnSpc>
              <a:spcBef>
                <a:spcPts val="1000"/>
              </a:spcBef>
              <a:spcAft>
                <a:spcPts val="0"/>
              </a:spcAft>
              <a:buClr>
                <a:schemeClr val="dk1"/>
              </a:buClr>
              <a:buSzPts val="2800"/>
              <a:buChar char="•"/>
            </a:pPr>
            <a:r>
              <a:rPr lang="en-US"/>
              <a:t>Is produced collaboratively;</a:t>
            </a:r>
            <a:endParaRPr/>
          </a:p>
          <a:p>
            <a:pPr marL="228600" lvl="0" indent="-228600" algn="l" rtl="0">
              <a:lnSpc>
                <a:spcPct val="90000"/>
              </a:lnSpc>
              <a:spcBef>
                <a:spcPts val="1000"/>
              </a:spcBef>
              <a:spcAft>
                <a:spcPts val="0"/>
              </a:spcAft>
              <a:buClr>
                <a:schemeClr val="dk1"/>
              </a:buClr>
              <a:buSzPts val="2800"/>
              <a:buChar char="•"/>
            </a:pPr>
            <a:r>
              <a:rPr lang="en-US"/>
              <a:t>Uses design to increase readability; and.</a:t>
            </a:r>
            <a:endParaRPr/>
          </a:p>
          <a:p>
            <a:pPr marL="228600" lvl="0" indent="-228600" algn="l" rtl="0">
              <a:lnSpc>
                <a:spcPct val="90000"/>
              </a:lnSpc>
              <a:spcBef>
                <a:spcPts val="1000"/>
              </a:spcBef>
              <a:spcAft>
                <a:spcPts val="0"/>
              </a:spcAft>
              <a:buClr>
                <a:schemeClr val="dk1"/>
              </a:buClr>
              <a:buSzPts val="2800"/>
              <a:buChar char="•"/>
            </a:pPr>
            <a:r>
              <a:rPr lang="en-US"/>
              <a:t>Consists of words or graphics or both.</a:t>
            </a:r>
            <a:endParaRPr/>
          </a:p>
          <a:p>
            <a:pPr marL="228600" lvl="0" indent="-50800" algn="l" rtl="0">
              <a:lnSpc>
                <a:spcPct val="90000"/>
              </a:lnSpc>
              <a:spcBef>
                <a:spcPts val="1000"/>
              </a:spcBef>
              <a:spcAft>
                <a:spcPts val="0"/>
              </a:spcAft>
              <a:buClr>
                <a:schemeClr val="dk1"/>
              </a:buClr>
              <a:buSzPts val="2800"/>
              <a:buNone/>
            </a:pPr>
            <a:endParaRPr/>
          </a:p>
        </p:txBody>
      </p:sp>
      <p:sp>
        <p:nvSpPr>
          <p:cNvPr id="295" name="Google Shape;295;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1192</Words>
  <PresentationFormat>Custom</PresentationFormat>
  <Paragraphs>153</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Unit I Communication Skills</vt:lpstr>
      <vt:lpstr>Communication???</vt:lpstr>
      <vt:lpstr>Slide 3</vt:lpstr>
      <vt:lpstr>Definitions:</vt:lpstr>
      <vt:lpstr>What the Author Say?</vt:lpstr>
      <vt:lpstr>Slide 6</vt:lpstr>
      <vt:lpstr>Types of Communication</vt:lpstr>
      <vt:lpstr>Process of Communication</vt:lpstr>
      <vt:lpstr>Characteristics of Communication</vt:lpstr>
      <vt:lpstr>Slide 10</vt:lpstr>
      <vt:lpstr>Slide 11</vt:lpstr>
      <vt:lpstr>Slide 12</vt:lpstr>
      <vt:lpstr>Slide 13</vt:lpstr>
      <vt:lpstr>Slide 14</vt:lpstr>
      <vt:lpstr>Significance of Communication</vt:lpstr>
      <vt:lpstr>Slide 16</vt:lpstr>
      <vt:lpstr>1. Completeness of Information</vt:lpstr>
      <vt:lpstr>2. Correctness of Information </vt:lpstr>
      <vt:lpstr>3.Conciseness</vt:lpstr>
      <vt:lpstr>4.Concrete </vt:lpstr>
      <vt:lpstr>5. Coherent </vt:lpstr>
      <vt:lpstr>6. Courteous </vt:lpstr>
      <vt:lpstr>7. Clarity</vt:lpstr>
      <vt:lpstr>Technical communication</vt:lpstr>
      <vt:lpstr>Slide 25</vt:lpstr>
      <vt:lpstr>Characteristics of Technical Communication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 Communication Skills</dc:title>
  <dc:creator>ENGLISH_HOD</dc:creator>
  <cp:lastModifiedBy>ENGLISH_HOD</cp:lastModifiedBy>
  <cp:revision>1</cp:revision>
  <dcterms:modified xsi:type="dcterms:W3CDTF">2022-03-28T10:22:52Z</dcterms:modified>
</cp:coreProperties>
</file>