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503" r:id="rId3"/>
    <p:sldId id="784" r:id="rId4"/>
    <p:sldId id="785" r:id="rId5"/>
    <p:sldId id="828" r:id="rId6"/>
    <p:sldId id="786" r:id="rId7"/>
    <p:sldId id="787" r:id="rId8"/>
    <p:sldId id="788" r:id="rId9"/>
    <p:sldId id="789" r:id="rId10"/>
    <p:sldId id="790" r:id="rId11"/>
    <p:sldId id="791" r:id="rId12"/>
    <p:sldId id="829" r:id="rId13"/>
    <p:sldId id="792" r:id="rId14"/>
    <p:sldId id="793" r:id="rId15"/>
    <p:sldId id="794" r:id="rId16"/>
    <p:sldId id="830" r:id="rId17"/>
    <p:sldId id="795" r:id="rId18"/>
    <p:sldId id="831" r:id="rId19"/>
    <p:sldId id="796" r:id="rId20"/>
    <p:sldId id="832" r:id="rId21"/>
    <p:sldId id="797" r:id="rId22"/>
    <p:sldId id="833" r:id="rId23"/>
    <p:sldId id="798" r:id="rId24"/>
    <p:sldId id="834" r:id="rId25"/>
    <p:sldId id="799" r:id="rId26"/>
    <p:sldId id="800" r:id="rId27"/>
    <p:sldId id="801" r:id="rId28"/>
    <p:sldId id="836" r:id="rId29"/>
    <p:sldId id="837" r:id="rId30"/>
    <p:sldId id="844" r:id="rId31"/>
    <p:sldId id="845" r:id="rId32"/>
    <p:sldId id="838" r:id="rId33"/>
    <p:sldId id="839" r:id="rId34"/>
    <p:sldId id="840" r:id="rId35"/>
    <p:sldId id="841" r:id="rId36"/>
    <p:sldId id="843" r:id="rId37"/>
    <p:sldId id="835" r:id="rId38"/>
    <p:sldId id="813" r:id="rId39"/>
    <p:sldId id="814" r:id="rId40"/>
    <p:sldId id="815" r:id="rId41"/>
    <p:sldId id="816" r:id="rId42"/>
    <p:sldId id="819" r:id="rId43"/>
    <p:sldId id="820" r:id="rId44"/>
    <p:sldId id="821" r:id="rId45"/>
    <p:sldId id="822" r:id="rId46"/>
    <p:sldId id="823" r:id="rId47"/>
    <p:sldId id="824" r:id="rId48"/>
    <p:sldId id="825" r:id="rId49"/>
    <p:sldId id="826" r:id="rId50"/>
    <p:sldId id="669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6600"/>
    <a:srgbClr val="FF00FF"/>
    <a:srgbClr val="0000FF"/>
    <a:srgbClr val="FF0066"/>
    <a:srgbClr val="FF0000"/>
    <a:srgbClr val="003300"/>
    <a:srgbClr val="D68B1C"/>
    <a:srgbClr val="0033C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0080" autoAdjust="0"/>
  </p:normalViewPr>
  <p:slideViewPr>
    <p:cSldViewPr showGuides="1">
      <p:cViewPr>
        <p:scale>
          <a:sx n="66" d="100"/>
          <a:sy n="66" d="100"/>
        </p:scale>
        <p:origin x="-15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notesMaster" Target="notesMasters/notesMaster1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016F2-B6ED-42E5-8E54-3C6B19592197}" type="datetimeFigureOut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5696F-DCF2-4690-8A98-9515D05694E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54763-DEE3-4C80-8709-AD268736AE5C}" type="datetimeFigureOut">
              <a:rPr lang="en-US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8E3DC-0B46-48CA-85FC-1799844C021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260" y="5414165"/>
            <a:ext cx="7772400" cy="8592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260" y="4345230"/>
            <a:ext cx="6400800" cy="1140865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FF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  <a:endParaRPr lang="en-US" dirty="0" smtClean="0"/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2195"/>
            <a:ext cx="8229600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3835"/>
            <a:ext cx="8229600" cy="391880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1545" y="274637"/>
            <a:ext cx="7016195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1545" y="1443835"/>
            <a:ext cx="7016195" cy="427574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22195"/>
            <a:ext cx="8229600" cy="114300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5" y="1882907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65" y="2512770"/>
            <a:ext cx="4040188" cy="303505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1882907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2512770"/>
            <a:ext cx="4041775" cy="303505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926FC-FAB8-4478-8E26-54689FB51FF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16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17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18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19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20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22.xml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3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24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25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6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7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8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29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0.xml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1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2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themeOverride" Target="../theme/themeOverride33.xml"/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3.xml"/><Relationship Id="rId4" Type="http://schemas.openxmlformats.org/officeDocument/2006/relationships/themeOverride" Target="../theme/themeOverride34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5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6.xml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7.xml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8.xml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39.xml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40.xml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1.xml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2.xml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3.xml"/><Relationship Id="rId2" Type="http://schemas.openxmlformats.org/officeDocument/2006/relationships/image" Target="../media/image13.jpeg"/><Relationship Id="rId1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hemeOverride" Target="../theme/themeOverride44.xml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5.xml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6.xml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47.xml"/><Relationship Id="rId2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19250" y="2060575"/>
            <a:ext cx="7000875" cy="174434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4000" b="1" u="sng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 ALGEBRA</a:t>
            </a:r>
            <a:endParaRPr lang="en-US" sz="4000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56" y="222195"/>
            <a:ext cx="6829444" cy="7064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2800" b="1" dirty="0" smtClean="0">
                <a:solidFill>
                  <a:srgbClr val="FFFF00"/>
                </a:solidFill>
              </a:rPr>
              <a:t>INTRODUCTION</a:t>
            </a:r>
            <a:endParaRPr lang="en-US" sz="2800" b="1" dirty="0" smtClean="0">
              <a:solidFill>
                <a:srgbClr val="FFFF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1500166" y="2000240"/>
            <a:ext cx="7115196" cy="3918803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by English Mathematician George Boole in between 1815 - 1864.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described as an algebra of logic or an algebra of two values </a:t>
            </a:r>
            <a:r>
              <a:rPr lang="en-US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i.e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True or False.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term logic means a statement having binary decisions </a:t>
            </a:r>
            <a:r>
              <a:rPr lang="en-US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i.e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True/Yes or False/No.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480" y="3143248"/>
            <a:ext cx="7043758" cy="777913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sz="3000" b="1" dirty="0" smtClean="0">
                <a:solidFill>
                  <a:schemeClr val="tx1"/>
                </a:solidFill>
              </a:rPr>
              <a:t>APPLICATION OF BOOLEAN ALGEBRA</a:t>
            </a:r>
            <a:endParaRPr lang="en-US" sz="3000" b="1" dirty="0" smtClean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42" y="222195"/>
            <a:ext cx="7043758" cy="777913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sz="3000" b="1" dirty="0" smtClean="0">
                <a:solidFill>
                  <a:schemeClr val="tx1"/>
                </a:solidFill>
              </a:rPr>
              <a:t>APPLICATION OF BOOLEAN ALGEBRA</a:t>
            </a:r>
            <a:endParaRPr lang="en-US" sz="3000" b="1" dirty="0" smtClean="0">
              <a:solidFill>
                <a:schemeClr val="tx1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071538" y="1443835"/>
            <a:ext cx="7615262" cy="5199875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used to perform the logical operations in digital computer.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digital computer True represent by ‘1’ (high volt) and False represent by ‘0’ (low volt)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operations are performed by logical operators. The fundamental logical operators are: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1.	AND (conjunction)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2.	OR (disjunction)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3.	NOT (negation/complement)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222195"/>
            <a:ext cx="7115196" cy="7064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AND operator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285852" y="1443835"/>
            <a:ext cx="7400948" cy="3918803"/>
          </a:xfrm>
        </p:spPr>
        <p:txBody>
          <a:bodyPr>
            <a:normAutofit lnSpcReduction="10000"/>
          </a:bodyPr>
          <a:lstStyle/>
          <a:p>
            <a:pPr eaLnBrk="1" hangingPunct="1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It performs logical multiplication and denoted by (.) dot.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	Y	X.Y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0	0	0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0	1	0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1	0	0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1	1	1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222195"/>
            <a:ext cx="7115196" cy="635037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operator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71604" y="1428736"/>
            <a:ext cx="7400948" cy="3918803"/>
          </a:xfrm>
        </p:spPr>
        <p:txBody>
          <a:bodyPr>
            <a:noAutofit/>
          </a:bodyPr>
          <a:lstStyle/>
          <a:p>
            <a:pPr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It performs logical addition and denoted by (+) plus.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X	Y	X+Y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0	0	0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0	1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1	0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1	1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222195"/>
            <a:ext cx="7115196" cy="70647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b="1" dirty="0" smtClean="0">
                <a:solidFill>
                  <a:srgbClr val="660033"/>
                </a:solidFill>
              </a:rPr>
              <a:t>NOT operator</a:t>
            </a:r>
            <a:endParaRPr lang="en-US" b="1" dirty="0" smtClean="0">
              <a:solidFill>
                <a:srgbClr val="660033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71604" y="1443835"/>
            <a:ext cx="7286676" cy="3918803"/>
          </a:xfrm>
        </p:spPr>
        <p:txBody>
          <a:bodyPr>
            <a:noAutofit/>
          </a:bodyPr>
          <a:lstStyle/>
          <a:p>
            <a:pPr algn="just"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It performs logical negation and denoted by (-) bar. It operates on single variable.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X	</a:t>
            </a:r>
            <a:r>
              <a:rPr lang="en-US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(means complement of x)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0	1	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1	0	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3357554" y="3500438"/>
            <a:ext cx="457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290" y="222195"/>
            <a:ext cx="7215238" cy="77791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Truth Table</a:t>
            </a: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571604" y="1443835"/>
            <a:ext cx="7215238" cy="3918803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Truth table is a table that contains all possible values of logical variables/statements in a Boolean expression.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No. of possible combination =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n=number of variables used in a Boolean expression.</a:t>
            </a:r>
            <a:endParaRPr lang="en-US" sz="3200" b="1" baseline="30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52" y="222195"/>
            <a:ext cx="7000924" cy="63503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 eaLnBrk="1" hangingPunct="1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Truth Table</a:t>
            </a: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357290" y="943745"/>
            <a:ext cx="7429552" cy="5699965"/>
          </a:xfrm>
        </p:spPr>
        <p:txBody>
          <a:bodyPr>
            <a:noAutofit/>
          </a:bodyPr>
          <a:lstStyle/>
          <a:p>
            <a:pPr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truth table for XY + Z is as follows: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Dec	X	Y	Z	XY	XY+Z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0	0	0	0	0	0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1	0	0	1	0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2	0	1	0	0	0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3	0	1	1	0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4	1	0	0	0	0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5	1	0	1	0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6	1	1	0	1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7	1	1	1	1	1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42" y="285728"/>
            <a:ext cx="6900882" cy="777913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b="1" dirty="0" smtClean="0">
                <a:solidFill>
                  <a:schemeClr val="bg1"/>
                </a:solidFill>
              </a:rPr>
              <a:t>Tautology &amp; Fallacy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785918" y="2214554"/>
            <a:ext cx="6900882" cy="3913991"/>
          </a:xfrm>
        </p:spPr>
        <p:txBody>
          <a:bodyPr>
            <a:noAutofit/>
          </a:bodyPr>
          <a:lstStyle/>
          <a:p>
            <a:pPr algn="just"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If the output of Boolean expression is always True or 1 is called Tautology.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If the output of Boolean expression is always False or 0 is called Fallacy.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56" y="3071810"/>
            <a:ext cx="6900882" cy="777913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/>
            <a:r>
              <a:rPr lang="en-US" b="1" dirty="0" smtClean="0">
                <a:solidFill>
                  <a:schemeClr val="bg1"/>
                </a:solidFill>
              </a:rPr>
              <a:t>Tautology &amp; Fallacy</a:t>
            </a:r>
            <a:endParaRPr lang="en-US" b="1" dirty="0" smtClean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42" y="222195"/>
            <a:ext cx="6786610" cy="77791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285852" y="1857364"/>
            <a:ext cx="7400948" cy="4271181"/>
          </a:xfrm>
        </p:spPr>
        <p:txBody>
          <a:bodyPr>
            <a:noAutofit/>
          </a:bodyPr>
          <a:lstStyle/>
          <a:p>
            <a:pPr marL="1028700" indent="-571500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Evaluate the following Boolean expression using Truth Table.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indent="-571500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X’Y’+X’Y		(b) X’YZ’+XY’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indent="-571500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XY’(Z+YZ’)+Z’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indent="-571500" eaLnBrk="1" hangingPunct="1">
              <a:buFont typeface="Wingdings" panose="05000000000000000000" pitchFamily="2" charset="2"/>
              <a:buNone/>
            </a:pP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indent="-571500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Verify that P+(PQ)’ is a Tautology.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indent="-571500"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Verify that (X+Y)’=X’Y’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480" y="222195"/>
            <a:ext cx="6572296" cy="77791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00166" y="2357430"/>
            <a:ext cx="7258072" cy="2628107"/>
          </a:xfrm>
        </p:spPr>
        <p:txBody>
          <a:bodyPr>
            <a:normAutofit/>
          </a:bodyPr>
          <a:lstStyle/>
          <a:p>
            <a:pPr algn="just" eaLnBrk="1" hangingPunct="1">
              <a:buNone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Boolean Algebra applied in computers electronic circuits. These circuits perform Boolean operations and these are called logic circuits or logic gates.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18" y="3000372"/>
            <a:ext cx="6929486" cy="777913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Gate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66" y="222195"/>
            <a:ext cx="6929486" cy="777913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Gate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00166" y="1443835"/>
            <a:ext cx="7286676" cy="5199875"/>
          </a:xfrm>
        </p:spPr>
        <p:txBody>
          <a:bodyPr>
            <a:noAutofit/>
          </a:bodyPr>
          <a:lstStyle/>
          <a:p>
            <a:pPr algn="just" eaLnBrk="1" hangingPunct="1">
              <a:buNone/>
            </a:pP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A gate is an digital circuit which operates on one or more signals and produce single output. </a:t>
            </a:r>
            <a:endParaRPr lang="en-US" sz="3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None/>
            </a:pP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Gates are digital circuits because the input and output signals are denoted by either 1(high voltage) or 0(low voltage).</a:t>
            </a:r>
            <a:endParaRPr lang="en-US" sz="3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None/>
            </a:pP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are three basic gates and are:</a:t>
            </a:r>
            <a:endParaRPr lang="en-US" sz="30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  <a:endParaRPr lang="en-US" sz="3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000232" y="5072074"/>
            <a:ext cx="3357618" cy="57150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lvl="0">
              <a:spcBef>
                <a:spcPct val="0"/>
              </a:spcBef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	AND gate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572132" y="5072074"/>
            <a:ext cx="3357618" cy="57150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lvl="0">
              <a:spcBef>
                <a:spcPct val="0"/>
              </a:spcBef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OR gate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000232" y="6000768"/>
            <a:ext cx="3357618" cy="57150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lvl="0">
              <a:spcBef>
                <a:spcPct val="0"/>
              </a:spcBef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NOT gate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18" y="3357562"/>
            <a:ext cx="6858049" cy="62387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gate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3" y="304801"/>
            <a:ext cx="6858049" cy="62387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gate</a:t>
            </a:r>
            <a:endParaRPr lang="en-US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57290" y="1285860"/>
            <a:ext cx="7286676" cy="1976452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AND gate is an electronic circuit that gives a high output (1) only if all its inputs are high. 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gate takes two or more input signals and produce only one output signal.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</a:pP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2429" name="Group 141"/>
          <p:cNvGraphicFramePr>
            <a:graphicFrameLocks noGrp="1"/>
          </p:cNvGraphicFramePr>
          <p:nvPr>
            <p:ph sz="half" idx="2"/>
          </p:nvPr>
        </p:nvGraphicFramePr>
        <p:xfrm>
          <a:off x="4429124" y="3500438"/>
          <a:ext cx="4214841" cy="30175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447727"/>
                <a:gridCol w="1443222"/>
                <a:gridCol w="1323892"/>
              </a:tblGrid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 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</a:t>
                      </a:r>
                      <a:endParaRPr kumimoji="0" lang="en-US" sz="2800" b="1" u="none" strike="noStrike" cap="none" normalizeH="0" baseline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B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</a:t>
                      </a:r>
                      <a:endParaRPr kumimoji="0" lang="en-US" sz="2800" b="1" u="none" strike="noStrike" cap="none" normalizeH="0" baseline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AB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pic>
        <p:nvPicPr>
          <p:cNvPr id="12425" name="Picture 137" descr="A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14818"/>
            <a:ext cx="3429000" cy="1404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480" y="3214686"/>
            <a:ext cx="6857992" cy="746111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OR gate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480" y="428604"/>
            <a:ext cx="6857992" cy="746111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OR gate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57290" y="1285860"/>
            <a:ext cx="7358114" cy="24384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OR gate is an electronic circuit that gives a high output (1) if one or more of its inputs are high. 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gate also takes two or more input signals and produce only one output signal.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 eaLnBrk="1" hangingPunct="1"/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4374" name="Group 38"/>
          <p:cNvGraphicFramePr>
            <a:graphicFrameLocks noGrp="1"/>
          </p:cNvGraphicFramePr>
          <p:nvPr>
            <p:ph sz="half" idx="2"/>
          </p:nvPr>
        </p:nvGraphicFramePr>
        <p:xfrm>
          <a:off x="4286248" y="3643314"/>
          <a:ext cx="4357718" cy="30175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95903"/>
                <a:gridCol w="1493839"/>
                <a:gridCol w="1367976"/>
              </a:tblGrid>
              <a:tr h="766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  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 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B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 A+B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0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0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0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4406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pic>
        <p:nvPicPr>
          <p:cNvPr id="14371" name="Picture 35" descr="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429132"/>
            <a:ext cx="327660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794" y="3286124"/>
            <a:ext cx="6718318" cy="677847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smtClean="0">
                <a:solidFill>
                  <a:srgbClr val="660033"/>
                </a:solidFill>
              </a:rPr>
              <a:t>NOT gate</a:t>
            </a:r>
            <a:endParaRPr lang="en-US" sz="3200" b="1" smtClean="0">
              <a:solidFill>
                <a:srgbClr val="660033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56" y="679450"/>
            <a:ext cx="6718318" cy="677847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smtClean="0">
                <a:solidFill>
                  <a:srgbClr val="660033"/>
                </a:solidFill>
              </a:rPr>
              <a:t>NOT gate</a:t>
            </a:r>
            <a:endParaRPr lang="en-US" sz="3200" b="1" smtClean="0">
              <a:solidFill>
                <a:srgbClr val="660033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57290" y="1571612"/>
            <a:ext cx="7358114" cy="3427424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NOT gate is an electronic circuit that gives a high output (1) if its input is low . 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gate takes only one input signal and produce only one output signal.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output of NOT gate is complement of its input.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also called inverter.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/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just" eaLnBrk="1" hangingPunct="1"/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6422" name="Group 38"/>
          <p:cNvGraphicFramePr>
            <a:graphicFrameLocks noGrp="1"/>
          </p:cNvGraphicFramePr>
          <p:nvPr>
            <p:ph sz="half" idx="2"/>
          </p:nvPr>
        </p:nvGraphicFramePr>
        <p:xfrm>
          <a:off x="5572132" y="4786322"/>
          <a:ext cx="3000396" cy="13716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67994"/>
                <a:gridCol w="1432402"/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 A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 A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pic>
        <p:nvPicPr>
          <p:cNvPr id="16418" name="Picture 34" descr="NO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5143512"/>
            <a:ext cx="3810000" cy="1433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9" name="Line 37"/>
          <p:cNvSpPr>
            <a:spLocks noChangeShapeType="1"/>
          </p:cNvSpPr>
          <p:nvPr/>
        </p:nvSpPr>
        <p:spPr bwMode="auto">
          <a:xfrm>
            <a:off x="8201052" y="4857760"/>
            <a:ext cx="2286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8"/>
          <p:cNvSpPr>
            <a:spLocks noChangeArrowheads="1"/>
          </p:cNvSpPr>
          <p:nvPr/>
        </p:nvSpPr>
        <p:spPr bwMode="auto">
          <a:xfrm>
            <a:off x="1500166" y="3143248"/>
            <a:ext cx="7358114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PRACTICAL APPLICATIONS OF LOGIC GATES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https://qph.ec.quoracdn.net/main-qimg-b3d767751c74f3b0fde72699e154bcad-c?convert_to_webp=tr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1643050"/>
            <a:ext cx="4481506" cy="2990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507" name="Rectangle 6"/>
          <p:cNvSpPr>
            <a:spLocks noChangeArrowheads="1"/>
          </p:cNvSpPr>
          <p:nvPr/>
        </p:nvSpPr>
        <p:spPr bwMode="auto">
          <a:xfrm>
            <a:off x="3857620" y="1000108"/>
            <a:ext cx="1653338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AND Gate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1571604" y="4786322"/>
            <a:ext cx="7348534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So 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going out of the house you set the "Alarm Switch" and if the burglar enters he will set the "Person switch", and </a:t>
            </a:r>
            <a:r>
              <a:rPr lang="en-I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tada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alarm will ring.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9" name="Rectangle 8"/>
          <p:cNvSpPr>
            <a:spLocks noChangeArrowheads="1"/>
          </p:cNvSpPr>
          <p:nvPr/>
        </p:nvSpPr>
        <p:spPr bwMode="auto">
          <a:xfrm>
            <a:off x="1214414" y="381000"/>
            <a:ext cx="7358114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PRACTICAL APPLICATIONS OF LOGIC GATES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ChangeArrowheads="1"/>
          </p:cNvSpPr>
          <p:nvPr/>
        </p:nvSpPr>
        <p:spPr bwMode="auto">
          <a:xfrm>
            <a:off x="4143372" y="1285860"/>
            <a:ext cx="1653338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AND Gate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785786" y="381000"/>
            <a:ext cx="771530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APPLICATIONS OF LOGIC GATES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1785918" y="2357430"/>
            <a:ext cx="7000924" cy="35394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 door will only open if it detects a person and the switch is set to unlocked. 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Microwave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only start if the start button is pressed and the door close switch is closed.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ChangeArrowheads="1"/>
          </p:cNvSpPr>
          <p:nvPr/>
        </p:nvSpPr>
        <p:spPr bwMode="auto">
          <a:xfrm>
            <a:off x="3786182" y="1071546"/>
            <a:ext cx="1416093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OR Gate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3556" name="Picture 2" descr="https://qph.ec.quoracdn.net/main-qimg-f45619cf36867bb8129b814455cfb4d6?convert_to_webp=tr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1785926"/>
            <a:ext cx="5162568" cy="3248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557" name="Rectangle 9"/>
          <p:cNvSpPr>
            <a:spLocks noChangeArrowheads="1"/>
          </p:cNvSpPr>
          <p:nvPr/>
        </p:nvSpPr>
        <p:spPr bwMode="auto">
          <a:xfrm>
            <a:off x="1357290" y="5286388"/>
            <a:ext cx="717711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You 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would of course want your doorbell to ring when someone presses either the front door switch or the back door switch..(nice)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5786" y="381000"/>
            <a:ext cx="771530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APPLICATIONS OF LOGIC GATES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ChangeArrowheads="1"/>
          </p:cNvSpPr>
          <p:nvPr/>
        </p:nvSpPr>
        <p:spPr bwMode="auto">
          <a:xfrm>
            <a:off x="4000496" y="1000108"/>
            <a:ext cx="1621405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Gate</a:t>
            </a:r>
            <a:endParaRPr lang="en-IN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714488"/>
            <a:ext cx="5553075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581" name="Rectangle 9"/>
          <p:cNvSpPr>
            <a:spLocks noChangeArrowheads="1"/>
          </p:cNvSpPr>
          <p:nvPr/>
        </p:nvSpPr>
        <p:spPr bwMode="auto">
          <a:xfrm>
            <a:off x="1428728" y="5334000"/>
            <a:ext cx="7181872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the temperature falls below 20c the Not gate will set on the central heating system (cool huh).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5786" y="381000"/>
            <a:ext cx="771530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APPLICATIONS OF LOGIC GATES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00232" y="3214686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NAND, NOR XOR, XNOR GATES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285728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 Gate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00232" y="1857364"/>
            <a:ext cx="65008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Known as a “universal” gate because ANY digital circuit can be implemented with NAND gates alone.</a:t>
            </a:r>
            <a:endParaRPr lang="en-US" altLang="zh-CN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285728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 Gate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90770" y="1757354"/>
            <a:ext cx="123303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54133" y="2605079"/>
            <a:ext cx="41069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254133" y="3662354"/>
            <a:ext cx="397866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378333" y="3138479"/>
            <a:ext cx="380232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643570" y="2214554"/>
            <a:ext cx="1191352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 Y  Z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0  0  1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0  1  1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1  0  1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1  1  0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5253054" y="2776534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6400359" y="2214554"/>
            <a:ext cx="45719" cy="249080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697045" y="2452679"/>
            <a:ext cx="2590800" cy="1828800"/>
            <a:chOff x="816" y="1488"/>
            <a:chExt cx="1632" cy="1152"/>
          </a:xfrm>
        </p:grpSpPr>
        <p:sp>
          <p:nvSpPr>
            <p:cNvPr id="12" name="Arc 13"/>
            <p:cNvSpPr/>
            <p:nvPr/>
          </p:nvSpPr>
          <p:spPr bwMode="auto">
            <a:xfrm>
              <a:off x="1392" y="1488"/>
              <a:ext cx="576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Arc 14"/>
            <p:cNvSpPr/>
            <p:nvPr/>
          </p:nvSpPr>
          <p:spPr bwMode="auto">
            <a:xfrm flipV="1">
              <a:off x="1392" y="2064"/>
              <a:ext cx="576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 flipH="1">
              <a:off x="1152" y="148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H="1">
              <a:off x="1152" y="264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152" y="1488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 flipH="1">
              <a:off x="816" y="172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816" y="2400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 flipH="1">
              <a:off x="2112" y="2064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1968" y="2016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622433" y="4514842"/>
            <a:ext cx="2146742" cy="10772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~(X &amp; Y)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nand(Z,X,Y)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285728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 Gate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214282" y="1927690"/>
            <a:ext cx="6043594" cy="3776839"/>
            <a:chOff x="384" y="1214"/>
            <a:chExt cx="3888" cy="2332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384" y="1214"/>
              <a:ext cx="3093" cy="2332"/>
              <a:chOff x="384" y="1075"/>
              <a:chExt cx="3517" cy="2525"/>
            </a:xfrm>
          </p:grpSpPr>
          <p:sp>
            <p:nvSpPr>
              <p:cNvPr id="27" name="AutoShape 5"/>
              <p:cNvSpPr>
                <a:spLocks noChangeArrowheads="1"/>
              </p:cNvSpPr>
              <p:nvPr/>
            </p:nvSpPr>
            <p:spPr bwMode="auto">
              <a:xfrm>
                <a:off x="1132" y="1152"/>
                <a:ext cx="429" cy="365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Line 6"/>
              <p:cNvSpPr>
                <a:spLocks noChangeShapeType="1"/>
              </p:cNvSpPr>
              <p:nvPr/>
            </p:nvSpPr>
            <p:spPr bwMode="auto">
              <a:xfrm>
                <a:off x="783" y="1233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Line 7"/>
              <p:cNvSpPr>
                <a:spLocks noChangeShapeType="1"/>
              </p:cNvSpPr>
              <p:nvPr/>
            </p:nvSpPr>
            <p:spPr bwMode="auto">
              <a:xfrm>
                <a:off x="1644" y="1333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Line 8"/>
              <p:cNvSpPr>
                <a:spLocks noChangeShapeType="1"/>
              </p:cNvSpPr>
              <p:nvPr/>
            </p:nvSpPr>
            <p:spPr bwMode="auto">
              <a:xfrm>
                <a:off x="783" y="1437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Oval 9"/>
              <p:cNvSpPr>
                <a:spLocks noChangeArrowheads="1"/>
              </p:cNvSpPr>
              <p:nvPr/>
            </p:nvSpPr>
            <p:spPr bwMode="auto">
              <a:xfrm>
                <a:off x="1561" y="1287"/>
                <a:ext cx="84" cy="9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4" name="Group 31"/>
              <p:cNvGrpSpPr/>
              <p:nvPr/>
            </p:nvGrpSpPr>
            <p:grpSpPr bwMode="auto">
              <a:xfrm>
                <a:off x="419" y="1939"/>
                <a:ext cx="1209" cy="365"/>
                <a:chOff x="375" y="1363"/>
                <a:chExt cx="2227" cy="652"/>
              </a:xfrm>
            </p:grpSpPr>
            <p:sp>
              <p:nvSpPr>
                <p:cNvPr id="72" name="AutoShape 11"/>
                <p:cNvSpPr>
                  <a:spLocks noChangeArrowheads="1"/>
                </p:cNvSpPr>
                <p:nvPr/>
              </p:nvSpPr>
              <p:spPr bwMode="auto">
                <a:xfrm>
                  <a:off x="1018" y="1363"/>
                  <a:ext cx="788" cy="652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3" name="Line 12"/>
                <p:cNvSpPr>
                  <a:spLocks noChangeShapeType="1"/>
                </p:cNvSpPr>
                <p:nvPr/>
              </p:nvSpPr>
              <p:spPr bwMode="auto">
                <a:xfrm>
                  <a:off x="375" y="1507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4" name="Line 13"/>
                <p:cNvSpPr>
                  <a:spLocks noChangeShapeType="1"/>
                </p:cNvSpPr>
                <p:nvPr/>
              </p:nvSpPr>
              <p:spPr bwMode="auto">
                <a:xfrm>
                  <a:off x="1959" y="1686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5" name="Line 14"/>
                <p:cNvSpPr>
                  <a:spLocks noChangeShapeType="1"/>
                </p:cNvSpPr>
                <p:nvPr/>
              </p:nvSpPr>
              <p:spPr bwMode="auto">
                <a:xfrm>
                  <a:off x="375" y="1872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6" name="Oval 15"/>
                <p:cNvSpPr>
                  <a:spLocks noChangeArrowheads="1"/>
                </p:cNvSpPr>
                <p:nvPr/>
              </p:nvSpPr>
              <p:spPr bwMode="auto">
                <a:xfrm>
                  <a:off x="1807" y="1605"/>
                  <a:ext cx="154" cy="1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5" name="Group 16"/>
              <p:cNvGrpSpPr/>
              <p:nvPr/>
            </p:nvGrpSpPr>
            <p:grpSpPr bwMode="auto">
              <a:xfrm>
                <a:off x="1609" y="1939"/>
                <a:ext cx="1209" cy="365"/>
                <a:chOff x="375" y="1363"/>
                <a:chExt cx="2227" cy="652"/>
              </a:xfrm>
            </p:grpSpPr>
            <p:sp>
              <p:nvSpPr>
                <p:cNvPr id="67" name="AutoShape 17"/>
                <p:cNvSpPr>
                  <a:spLocks noChangeArrowheads="1"/>
                </p:cNvSpPr>
                <p:nvPr/>
              </p:nvSpPr>
              <p:spPr bwMode="auto">
                <a:xfrm>
                  <a:off x="1018" y="1363"/>
                  <a:ext cx="788" cy="652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8" name="Line 18"/>
                <p:cNvSpPr>
                  <a:spLocks noChangeShapeType="1"/>
                </p:cNvSpPr>
                <p:nvPr/>
              </p:nvSpPr>
              <p:spPr bwMode="auto">
                <a:xfrm>
                  <a:off x="375" y="1507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9" name="Line 19"/>
                <p:cNvSpPr>
                  <a:spLocks noChangeShapeType="1"/>
                </p:cNvSpPr>
                <p:nvPr/>
              </p:nvSpPr>
              <p:spPr bwMode="auto">
                <a:xfrm>
                  <a:off x="1959" y="1686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0" name="Line 20"/>
                <p:cNvSpPr>
                  <a:spLocks noChangeShapeType="1"/>
                </p:cNvSpPr>
                <p:nvPr/>
              </p:nvSpPr>
              <p:spPr bwMode="auto">
                <a:xfrm>
                  <a:off x="375" y="1872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1" name="Oval 21"/>
                <p:cNvSpPr>
                  <a:spLocks noChangeArrowheads="1"/>
                </p:cNvSpPr>
                <p:nvPr/>
              </p:nvSpPr>
              <p:spPr bwMode="auto">
                <a:xfrm>
                  <a:off x="1807" y="1605"/>
                  <a:ext cx="154" cy="1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6" name="Group 22"/>
              <p:cNvGrpSpPr/>
              <p:nvPr/>
            </p:nvGrpSpPr>
            <p:grpSpPr bwMode="auto">
              <a:xfrm>
                <a:off x="758" y="2707"/>
                <a:ext cx="1209" cy="365"/>
                <a:chOff x="375" y="1363"/>
                <a:chExt cx="2227" cy="652"/>
              </a:xfrm>
            </p:grpSpPr>
            <p:sp>
              <p:nvSpPr>
                <p:cNvPr id="62" name="AutoShape 23"/>
                <p:cNvSpPr>
                  <a:spLocks noChangeArrowheads="1"/>
                </p:cNvSpPr>
                <p:nvPr/>
              </p:nvSpPr>
              <p:spPr bwMode="auto">
                <a:xfrm>
                  <a:off x="1018" y="1363"/>
                  <a:ext cx="788" cy="652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3" name="Line 24"/>
                <p:cNvSpPr>
                  <a:spLocks noChangeShapeType="1"/>
                </p:cNvSpPr>
                <p:nvPr/>
              </p:nvSpPr>
              <p:spPr bwMode="auto">
                <a:xfrm>
                  <a:off x="375" y="1507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4" name="Line 25"/>
                <p:cNvSpPr>
                  <a:spLocks noChangeShapeType="1"/>
                </p:cNvSpPr>
                <p:nvPr/>
              </p:nvSpPr>
              <p:spPr bwMode="auto">
                <a:xfrm>
                  <a:off x="1959" y="1686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auto">
                <a:xfrm>
                  <a:off x="375" y="1872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6" name="Oval 27"/>
                <p:cNvSpPr>
                  <a:spLocks noChangeArrowheads="1"/>
                </p:cNvSpPr>
                <p:nvPr/>
              </p:nvSpPr>
              <p:spPr bwMode="auto">
                <a:xfrm>
                  <a:off x="1807" y="1605"/>
                  <a:ext cx="154" cy="1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7" name="Group 28"/>
              <p:cNvGrpSpPr/>
              <p:nvPr/>
            </p:nvGrpSpPr>
            <p:grpSpPr bwMode="auto">
              <a:xfrm>
                <a:off x="768" y="3235"/>
                <a:ext cx="1209" cy="365"/>
                <a:chOff x="375" y="1363"/>
                <a:chExt cx="2227" cy="652"/>
              </a:xfrm>
            </p:grpSpPr>
            <p:sp>
              <p:nvSpPr>
                <p:cNvPr id="57" name="AutoShape 29"/>
                <p:cNvSpPr>
                  <a:spLocks noChangeArrowheads="1"/>
                </p:cNvSpPr>
                <p:nvPr/>
              </p:nvSpPr>
              <p:spPr bwMode="auto">
                <a:xfrm>
                  <a:off x="1018" y="1363"/>
                  <a:ext cx="788" cy="652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8" name="Line 30"/>
                <p:cNvSpPr>
                  <a:spLocks noChangeShapeType="1"/>
                </p:cNvSpPr>
                <p:nvPr/>
              </p:nvSpPr>
              <p:spPr bwMode="auto">
                <a:xfrm>
                  <a:off x="375" y="1507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9" name="Line 31"/>
                <p:cNvSpPr>
                  <a:spLocks noChangeShapeType="1"/>
                </p:cNvSpPr>
                <p:nvPr/>
              </p:nvSpPr>
              <p:spPr bwMode="auto">
                <a:xfrm>
                  <a:off x="1959" y="1686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0" name="Line 32"/>
                <p:cNvSpPr>
                  <a:spLocks noChangeShapeType="1"/>
                </p:cNvSpPr>
                <p:nvPr/>
              </p:nvSpPr>
              <p:spPr bwMode="auto">
                <a:xfrm>
                  <a:off x="375" y="1872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1" name="Oval 33"/>
                <p:cNvSpPr>
                  <a:spLocks noChangeArrowheads="1"/>
                </p:cNvSpPr>
                <p:nvPr/>
              </p:nvSpPr>
              <p:spPr bwMode="auto">
                <a:xfrm>
                  <a:off x="1807" y="1605"/>
                  <a:ext cx="154" cy="1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8" name="Group 34"/>
              <p:cNvGrpSpPr/>
              <p:nvPr/>
            </p:nvGrpSpPr>
            <p:grpSpPr bwMode="auto">
              <a:xfrm>
                <a:off x="1958" y="2976"/>
                <a:ext cx="1209" cy="365"/>
                <a:chOff x="375" y="1363"/>
                <a:chExt cx="2227" cy="652"/>
              </a:xfrm>
            </p:grpSpPr>
            <p:sp>
              <p:nvSpPr>
                <p:cNvPr id="52" name="AutoShape 35"/>
                <p:cNvSpPr>
                  <a:spLocks noChangeArrowheads="1"/>
                </p:cNvSpPr>
                <p:nvPr/>
              </p:nvSpPr>
              <p:spPr bwMode="auto">
                <a:xfrm>
                  <a:off x="1018" y="1363"/>
                  <a:ext cx="788" cy="652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" name="Line 36"/>
                <p:cNvSpPr>
                  <a:spLocks noChangeShapeType="1"/>
                </p:cNvSpPr>
                <p:nvPr/>
              </p:nvSpPr>
              <p:spPr bwMode="auto">
                <a:xfrm>
                  <a:off x="375" y="1507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4" name="Line 37"/>
                <p:cNvSpPr>
                  <a:spLocks noChangeShapeType="1"/>
                </p:cNvSpPr>
                <p:nvPr/>
              </p:nvSpPr>
              <p:spPr bwMode="auto">
                <a:xfrm>
                  <a:off x="1959" y="1686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5" name="Line 38"/>
                <p:cNvSpPr>
                  <a:spLocks noChangeShapeType="1"/>
                </p:cNvSpPr>
                <p:nvPr/>
              </p:nvSpPr>
              <p:spPr bwMode="auto">
                <a:xfrm>
                  <a:off x="375" y="1872"/>
                  <a:ext cx="64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I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6" name="Oval 39"/>
                <p:cNvSpPr>
                  <a:spLocks noChangeArrowheads="1"/>
                </p:cNvSpPr>
                <p:nvPr/>
              </p:nvSpPr>
              <p:spPr bwMode="auto">
                <a:xfrm>
                  <a:off x="1807" y="1605"/>
                  <a:ext cx="154" cy="1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773" y="1248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609" y="2016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Line 42"/>
              <p:cNvSpPr>
                <a:spLocks noChangeShapeType="1"/>
              </p:cNvSpPr>
              <p:nvPr/>
            </p:nvSpPr>
            <p:spPr bwMode="auto">
              <a:xfrm>
                <a:off x="758" y="2784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Line 43"/>
              <p:cNvSpPr>
                <a:spLocks noChangeShapeType="1"/>
              </p:cNvSpPr>
              <p:nvPr/>
            </p:nvSpPr>
            <p:spPr bwMode="auto">
              <a:xfrm>
                <a:off x="758" y="3312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1" name="Line 44"/>
              <p:cNvSpPr>
                <a:spLocks noChangeShapeType="1"/>
              </p:cNvSpPr>
              <p:nvPr/>
            </p:nvSpPr>
            <p:spPr bwMode="auto">
              <a:xfrm>
                <a:off x="409" y="1344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2" name="Line 45"/>
              <p:cNvSpPr>
                <a:spLocks noChangeShapeType="1"/>
              </p:cNvSpPr>
              <p:nvPr/>
            </p:nvSpPr>
            <p:spPr bwMode="auto">
              <a:xfrm>
                <a:off x="409" y="2880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" name="Line 46"/>
              <p:cNvSpPr>
                <a:spLocks noChangeShapeType="1"/>
              </p:cNvSpPr>
              <p:nvPr/>
            </p:nvSpPr>
            <p:spPr bwMode="auto">
              <a:xfrm>
                <a:off x="409" y="3408"/>
                <a:ext cx="3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" name="Line 47"/>
              <p:cNvSpPr>
                <a:spLocks noChangeShapeType="1"/>
              </p:cNvSpPr>
              <p:nvPr/>
            </p:nvSpPr>
            <p:spPr bwMode="auto">
              <a:xfrm>
                <a:off x="1958" y="288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958" y="3264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6" name="Text Box 49"/>
              <p:cNvSpPr txBox="1">
                <a:spLocks noChangeArrowheads="1"/>
              </p:cNvSpPr>
              <p:nvPr/>
            </p:nvSpPr>
            <p:spPr bwMode="auto">
              <a:xfrm>
                <a:off x="384" y="1152"/>
                <a:ext cx="288" cy="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endPara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" name="Text Box 50"/>
              <p:cNvSpPr txBox="1">
                <a:spLocks noChangeArrowheads="1"/>
              </p:cNvSpPr>
              <p:nvPr/>
            </p:nvSpPr>
            <p:spPr bwMode="auto">
              <a:xfrm>
                <a:off x="384" y="2697"/>
                <a:ext cx="288" cy="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endPara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8" name="Text Box 51"/>
              <p:cNvSpPr txBox="1">
                <a:spLocks noChangeArrowheads="1"/>
              </p:cNvSpPr>
              <p:nvPr/>
            </p:nvSpPr>
            <p:spPr bwMode="auto">
              <a:xfrm>
                <a:off x="2271" y="1075"/>
                <a:ext cx="1630" cy="61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 = (X•X)’ 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>
                  <a:defRPr/>
                </a:pP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= X’+X’ 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>
                  <a:defRPr/>
                </a:pP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= X’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9" name="Text Box 52"/>
              <p:cNvSpPr txBox="1">
                <a:spLocks noChangeArrowheads="1"/>
              </p:cNvSpPr>
              <p:nvPr/>
            </p:nvSpPr>
            <p:spPr bwMode="auto">
              <a:xfrm>
                <a:off x="384" y="1833"/>
                <a:ext cx="288" cy="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X</a:t>
                </a:r>
                <a:endPara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0" name="Text Box 53"/>
              <p:cNvSpPr txBox="1">
                <a:spLocks noChangeArrowheads="1"/>
              </p:cNvSpPr>
              <p:nvPr/>
            </p:nvSpPr>
            <p:spPr bwMode="auto">
              <a:xfrm>
                <a:off x="384" y="2025"/>
                <a:ext cx="288" cy="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endPara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" name="Text Box 54"/>
              <p:cNvSpPr txBox="1">
                <a:spLocks noChangeArrowheads="1"/>
              </p:cNvSpPr>
              <p:nvPr/>
            </p:nvSpPr>
            <p:spPr bwMode="auto">
              <a:xfrm>
                <a:off x="384" y="3216"/>
                <a:ext cx="288" cy="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Y</a:t>
                </a:r>
                <a:endPara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5" name="Text Box 55"/>
            <p:cNvSpPr txBox="1">
              <a:spLocks noChangeArrowheads="1"/>
            </p:cNvSpPr>
            <p:nvPr/>
          </p:nvSpPr>
          <p:spPr bwMode="auto">
            <a:xfrm>
              <a:off x="2353" y="1986"/>
              <a:ext cx="1636" cy="7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 = ((X•Y)’)’ 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= (X’+Y’)’ 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= X’’•Y’’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= X•Y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56"/>
            <p:cNvSpPr txBox="1">
              <a:spLocks noChangeArrowheads="1"/>
            </p:cNvSpPr>
            <p:nvPr/>
          </p:nvSpPr>
          <p:spPr bwMode="auto">
            <a:xfrm>
              <a:off x="2640" y="2928"/>
              <a:ext cx="1632" cy="5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 = (X’•Y’)’ 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= X’’+Y’’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= X+Y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9" name="Group 57"/>
          <p:cNvGrpSpPr/>
          <p:nvPr/>
        </p:nvGrpSpPr>
        <p:grpSpPr bwMode="auto">
          <a:xfrm>
            <a:off x="4929190" y="1919304"/>
            <a:ext cx="4024282" cy="3795712"/>
            <a:chOff x="3504" y="1209"/>
            <a:chExt cx="2544" cy="2295"/>
          </a:xfrm>
        </p:grpSpPr>
        <p:grpSp>
          <p:nvGrpSpPr>
            <p:cNvPr id="10" name="Group 58"/>
            <p:cNvGrpSpPr/>
            <p:nvPr/>
          </p:nvGrpSpPr>
          <p:grpSpPr bwMode="auto">
            <a:xfrm>
              <a:off x="3535" y="1968"/>
              <a:ext cx="1063" cy="338"/>
              <a:chOff x="375" y="1363"/>
              <a:chExt cx="2227" cy="652"/>
            </a:xfrm>
          </p:grpSpPr>
          <p:sp>
            <p:nvSpPr>
              <p:cNvPr id="115" name="AutoShape 59"/>
              <p:cNvSpPr>
                <a:spLocks noChangeArrowheads="1"/>
              </p:cNvSpPr>
              <p:nvPr/>
            </p:nvSpPr>
            <p:spPr bwMode="auto">
              <a:xfrm>
                <a:off x="1018" y="1363"/>
                <a:ext cx="788" cy="652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6" name="Line 60"/>
              <p:cNvSpPr>
                <a:spLocks noChangeShapeType="1"/>
              </p:cNvSpPr>
              <p:nvPr/>
            </p:nvSpPr>
            <p:spPr bwMode="auto">
              <a:xfrm>
                <a:off x="375" y="1507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7" name="Line 61"/>
              <p:cNvSpPr>
                <a:spLocks noChangeShapeType="1"/>
              </p:cNvSpPr>
              <p:nvPr/>
            </p:nvSpPr>
            <p:spPr bwMode="auto">
              <a:xfrm>
                <a:off x="1959" y="1686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8" name="Line 62"/>
              <p:cNvSpPr>
                <a:spLocks noChangeShapeType="1"/>
              </p:cNvSpPr>
              <p:nvPr/>
            </p:nvSpPr>
            <p:spPr bwMode="auto">
              <a:xfrm>
                <a:off x="375" y="1872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9" name="Oval 63"/>
              <p:cNvSpPr>
                <a:spLocks noChangeArrowheads="1"/>
              </p:cNvSpPr>
              <p:nvPr/>
            </p:nvSpPr>
            <p:spPr bwMode="auto">
              <a:xfrm>
                <a:off x="1807" y="1605"/>
                <a:ext cx="154" cy="1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1" name="Group 64"/>
            <p:cNvGrpSpPr/>
            <p:nvPr/>
          </p:nvGrpSpPr>
          <p:grpSpPr bwMode="auto">
            <a:xfrm>
              <a:off x="4560" y="2927"/>
              <a:ext cx="1063" cy="338"/>
              <a:chOff x="375" y="1363"/>
              <a:chExt cx="2227" cy="652"/>
            </a:xfrm>
          </p:grpSpPr>
          <p:sp>
            <p:nvSpPr>
              <p:cNvPr id="110" name="AutoShape 65"/>
              <p:cNvSpPr>
                <a:spLocks noChangeArrowheads="1"/>
              </p:cNvSpPr>
              <p:nvPr/>
            </p:nvSpPr>
            <p:spPr bwMode="auto">
              <a:xfrm>
                <a:off x="1018" y="1363"/>
                <a:ext cx="788" cy="652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1" name="Line 66"/>
              <p:cNvSpPr>
                <a:spLocks noChangeShapeType="1"/>
              </p:cNvSpPr>
              <p:nvPr/>
            </p:nvSpPr>
            <p:spPr bwMode="auto">
              <a:xfrm>
                <a:off x="375" y="1507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2" name="Line 67"/>
              <p:cNvSpPr>
                <a:spLocks noChangeShapeType="1"/>
              </p:cNvSpPr>
              <p:nvPr/>
            </p:nvSpPr>
            <p:spPr bwMode="auto">
              <a:xfrm>
                <a:off x="1959" y="1686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3" name="Line 68"/>
              <p:cNvSpPr>
                <a:spLocks noChangeShapeType="1"/>
              </p:cNvSpPr>
              <p:nvPr/>
            </p:nvSpPr>
            <p:spPr bwMode="auto">
              <a:xfrm>
                <a:off x="375" y="1872"/>
                <a:ext cx="6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1807" y="1605"/>
                <a:ext cx="154" cy="1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0" name="Line 70"/>
            <p:cNvSpPr>
              <a:spLocks noChangeShapeType="1"/>
            </p:cNvSpPr>
            <p:nvPr/>
          </p:nvSpPr>
          <p:spPr bwMode="auto">
            <a:xfrm>
              <a:off x="4560" y="2838"/>
              <a:ext cx="0" cy="1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I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71"/>
            <p:cNvSpPr>
              <a:spLocks noChangeShapeType="1"/>
            </p:cNvSpPr>
            <p:nvPr/>
          </p:nvSpPr>
          <p:spPr bwMode="auto">
            <a:xfrm>
              <a:off x="4560" y="3193"/>
              <a:ext cx="0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I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Text Box 72"/>
            <p:cNvSpPr txBox="1">
              <a:spLocks noChangeArrowheads="1"/>
            </p:cNvSpPr>
            <p:nvPr/>
          </p:nvSpPr>
          <p:spPr bwMode="auto">
            <a:xfrm>
              <a:off x="3504" y="1248"/>
              <a:ext cx="253" cy="2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Text Box 73"/>
            <p:cNvSpPr txBox="1">
              <a:spLocks noChangeArrowheads="1"/>
            </p:cNvSpPr>
            <p:nvPr/>
          </p:nvSpPr>
          <p:spPr bwMode="auto">
            <a:xfrm>
              <a:off x="3504" y="2669"/>
              <a:ext cx="253" cy="2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Text Box 74"/>
            <p:cNvSpPr txBox="1">
              <a:spLocks noChangeArrowheads="1"/>
            </p:cNvSpPr>
            <p:nvPr/>
          </p:nvSpPr>
          <p:spPr bwMode="auto">
            <a:xfrm>
              <a:off x="4320" y="1209"/>
              <a:ext cx="1434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 = X’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Text Box 75"/>
            <p:cNvSpPr txBox="1">
              <a:spLocks noChangeArrowheads="1"/>
            </p:cNvSpPr>
            <p:nvPr/>
          </p:nvSpPr>
          <p:spPr bwMode="auto">
            <a:xfrm>
              <a:off x="3504" y="1870"/>
              <a:ext cx="253" cy="2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Text Box 76"/>
            <p:cNvSpPr txBox="1">
              <a:spLocks noChangeArrowheads="1"/>
            </p:cNvSpPr>
            <p:nvPr/>
          </p:nvSpPr>
          <p:spPr bwMode="auto">
            <a:xfrm>
              <a:off x="3504" y="2048"/>
              <a:ext cx="253" cy="2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Text Box 77"/>
            <p:cNvSpPr txBox="1">
              <a:spLocks noChangeArrowheads="1"/>
            </p:cNvSpPr>
            <p:nvPr/>
          </p:nvSpPr>
          <p:spPr bwMode="auto">
            <a:xfrm>
              <a:off x="3504" y="3149"/>
              <a:ext cx="253" cy="2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" name="Text Box 78"/>
            <p:cNvSpPr txBox="1">
              <a:spLocks noChangeArrowheads="1"/>
            </p:cNvSpPr>
            <p:nvPr/>
          </p:nvSpPr>
          <p:spPr bwMode="auto">
            <a:xfrm>
              <a:off x="5040" y="1929"/>
              <a:ext cx="528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 X•Y</a:t>
              </a:r>
              <a:endPara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Text Box 79"/>
            <p:cNvSpPr txBox="1">
              <a:spLocks noChangeArrowheads="1"/>
            </p:cNvSpPr>
            <p:nvPr/>
          </p:nvSpPr>
          <p:spPr bwMode="auto">
            <a:xfrm>
              <a:off x="5328" y="2880"/>
              <a:ext cx="720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 = X+Y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2" name="Group 80"/>
            <p:cNvGrpSpPr/>
            <p:nvPr/>
          </p:nvGrpSpPr>
          <p:grpSpPr bwMode="auto">
            <a:xfrm>
              <a:off x="3526" y="1255"/>
              <a:ext cx="1030" cy="336"/>
              <a:chOff x="3526" y="1255"/>
              <a:chExt cx="1030" cy="336"/>
            </a:xfrm>
          </p:grpSpPr>
          <p:sp>
            <p:nvSpPr>
              <p:cNvPr id="106" name="Line 81"/>
              <p:cNvSpPr>
                <a:spLocks noChangeShapeType="1"/>
              </p:cNvSpPr>
              <p:nvPr/>
            </p:nvSpPr>
            <p:spPr bwMode="auto">
              <a:xfrm>
                <a:off x="4249" y="141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7" name="Oval 82"/>
              <p:cNvSpPr>
                <a:spLocks noChangeArrowheads="1"/>
              </p:cNvSpPr>
              <p:nvPr/>
            </p:nvSpPr>
            <p:spPr bwMode="auto">
              <a:xfrm>
                <a:off x="4176" y="1373"/>
                <a:ext cx="74" cy="8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8" name="Line 83"/>
              <p:cNvSpPr>
                <a:spLocks noChangeShapeType="1"/>
              </p:cNvSpPr>
              <p:nvPr/>
            </p:nvSpPr>
            <p:spPr bwMode="auto">
              <a:xfrm>
                <a:off x="3526" y="142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9" name="AutoShape 84"/>
              <p:cNvSpPr>
                <a:spLocks noChangeArrowheads="1"/>
              </p:cNvSpPr>
              <p:nvPr/>
            </p:nvSpPr>
            <p:spPr bwMode="auto">
              <a:xfrm rot="5400000">
                <a:off x="3840" y="1255"/>
                <a:ext cx="336" cy="336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3" name="Group 85"/>
            <p:cNvGrpSpPr/>
            <p:nvPr/>
          </p:nvGrpSpPr>
          <p:grpSpPr bwMode="auto">
            <a:xfrm>
              <a:off x="4320" y="1968"/>
              <a:ext cx="1030" cy="336"/>
              <a:chOff x="3526" y="1255"/>
              <a:chExt cx="1030" cy="336"/>
            </a:xfrm>
          </p:grpSpPr>
          <p:sp>
            <p:nvSpPr>
              <p:cNvPr id="102" name="Line 86"/>
              <p:cNvSpPr>
                <a:spLocks noChangeShapeType="1"/>
              </p:cNvSpPr>
              <p:nvPr/>
            </p:nvSpPr>
            <p:spPr bwMode="auto">
              <a:xfrm>
                <a:off x="4249" y="141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" name="Oval 87"/>
              <p:cNvSpPr>
                <a:spLocks noChangeArrowheads="1"/>
              </p:cNvSpPr>
              <p:nvPr/>
            </p:nvSpPr>
            <p:spPr bwMode="auto">
              <a:xfrm>
                <a:off x="4176" y="1373"/>
                <a:ext cx="74" cy="8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" name="Line 88"/>
              <p:cNvSpPr>
                <a:spLocks noChangeShapeType="1"/>
              </p:cNvSpPr>
              <p:nvPr/>
            </p:nvSpPr>
            <p:spPr bwMode="auto">
              <a:xfrm>
                <a:off x="3526" y="142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" name="AutoShape 89"/>
              <p:cNvSpPr>
                <a:spLocks noChangeArrowheads="1"/>
              </p:cNvSpPr>
              <p:nvPr/>
            </p:nvSpPr>
            <p:spPr bwMode="auto">
              <a:xfrm rot="5400000">
                <a:off x="3840" y="1255"/>
                <a:ext cx="336" cy="336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4" name="Group 90"/>
            <p:cNvGrpSpPr/>
            <p:nvPr/>
          </p:nvGrpSpPr>
          <p:grpSpPr bwMode="auto">
            <a:xfrm>
              <a:off x="3552" y="2688"/>
              <a:ext cx="1030" cy="336"/>
              <a:chOff x="3526" y="1255"/>
              <a:chExt cx="1030" cy="336"/>
            </a:xfrm>
          </p:grpSpPr>
          <p:sp>
            <p:nvSpPr>
              <p:cNvPr id="98" name="Line 91"/>
              <p:cNvSpPr>
                <a:spLocks noChangeShapeType="1"/>
              </p:cNvSpPr>
              <p:nvPr/>
            </p:nvSpPr>
            <p:spPr bwMode="auto">
              <a:xfrm>
                <a:off x="4249" y="141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9" name="Oval 92"/>
              <p:cNvSpPr>
                <a:spLocks noChangeArrowheads="1"/>
              </p:cNvSpPr>
              <p:nvPr/>
            </p:nvSpPr>
            <p:spPr bwMode="auto">
              <a:xfrm>
                <a:off x="4176" y="1373"/>
                <a:ext cx="74" cy="8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0" name="Line 93"/>
              <p:cNvSpPr>
                <a:spLocks noChangeShapeType="1"/>
              </p:cNvSpPr>
              <p:nvPr/>
            </p:nvSpPr>
            <p:spPr bwMode="auto">
              <a:xfrm>
                <a:off x="3526" y="142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1" name="AutoShape 94"/>
              <p:cNvSpPr>
                <a:spLocks noChangeArrowheads="1"/>
              </p:cNvSpPr>
              <p:nvPr/>
            </p:nvSpPr>
            <p:spPr bwMode="auto">
              <a:xfrm rot="5400000">
                <a:off x="3840" y="1255"/>
                <a:ext cx="336" cy="336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5" name="Group 95"/>
            <p:cNvGrpSpPr/>
            <p:nvPr/>
          </p:nvGrpSpPr>
          <p:grpSpPr bwMode="auto">
            <a:xfrm>
              <a:off x="3552" y="3168"/>
              <a:ext cx="1030" cy="336"/>
              <a:chOff x="3526" y="1255"/>
              <a:chExt cx="1030" cy="336"/>
            </a:xfrm>
          </p:grpSpPr>
          <p:sp>
            <p:nvSpPr>
              <p:cNvPr id="94" name="Line 96"/>
              <p:cNvSpPr>
                <a:spLocks noChangeShapeType="1"/>
              </p:cNvSpPr>
              <p:nvPr/>
            </p:nvSpPr>
            <p:spPr bwMode="auto">
              <a:xfrm>
                <a:off x="4249" y="141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5" name="Oval 97"/>
              <p:cNvSpPr>
                <a:spLocks noChangeArrowheads="1"/>
              </p:cNvSpPr>
              <p:nvPr/>
            </p:nvSpPr>
            <p:spPr bwMode="auto">
              <a:xfrm>
                <a:off x="4176" y="1373"/>
                <a:ext cx="74" cy="8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6" name="Line 98"/>
              <p:cNvSpPr>
                <a:spLocks noChangeShapeType="1"/>
              </p:cNvSpPr>
              <p:nvPr/>
            </p:nvSpPr>
            <p:spPr bwMode="auto">
              <a:xfrm>
                <a:off x="3526" y="1425"/>
                <a:ext cx="3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I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7" name="AutoShape 99"/>
              <p:cNvSpPr>
                <a:spLocks noChangeArrowheads="1"/>
              </p:cNvSpPr>
              <p:nvPr/>
            </p:nvSpPr>
            <p:spPr bwMode="auto">
              <a:xfrm rot="5400000">
                <a:off x="3840" y="1255"/>
                <a:ext cx="336" cy="336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143108" y="2928934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 Gate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285728"/>
            <a:ext cx="6143668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 Gate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Arc 3"/>
          <p:cNvSpPr/>
          <p:nvPr/>
        </p:nvSpPr>
        <p:spPr bwMode="auto">
          <a:xfrm>
            <a:off x="3009921" y="2438400"/>
            <a:ext cx="1057275" cy="9080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330"/>
              <a:gd name="T1" fmla="*/ 0 h 21600"/>
              <a:gd name="T2" fmla="*/ 20330 w 20330"/>
              <a:gd name="T3" fmla="*/ 14302 h 21600"/>
              <a:gd name="T4" fmla="*/ 0 w 2033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330" h="21600" fill="none" extrusionOk="0">
                <a:moveTo>
                  <a:pt x="-1" y="0"/>
                </a:moveTo>
                <a:cubicBezTo>
                  <a:pt x="9115" y="0"/>
                  <a:pt x="17249" y="5722"/>
                  <a:pt x="20329" y="14302"/>
                </a:cubicBezTo>
              </a:path>
              <a:path w="20330" h="21600" stroke="0" extrusionOk="0">
                <a:moveTo>
                  <a:pt x="-1" y="0"/>
                </a:moveTo>
                <a:cubicBezTo>
                  <a:pt x="9115" y="0"/>
                  <a:pt x="17249" y="5722"/>
                  <a:pt x="20329" y="14302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Arc 4"/>
          <p:cNvSpPr/>
          <p:nvPr/>
        </p:nvSpPr>
        <p:spPr bwMode="auto">
          <a:xfrm flipV="1">
            <a:off x="3009921" y="2735263"/>
            <a:ext cx="1057275" cy="9080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330"/>
              <a:gd name="T1" fmla="*/ 0 h 21600"/>
              <a:gd name="T2" fmla="*/ 20330 w 20330"/>
              <a:gd name="T3" fmla="*/ 14302 h 21600"/>
              <a:gd name="T4" fmla="*/ 0 w 2033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330" h="21600" fill="none" extrusionOk="0">
                <a:moveTo>
                  <a:pt x="-1" y="0"/>
                </a:moveTo>
                <a:cubicBezTo>
                  <a:pt x="9115" y="0"/>
                  <a:pt x="17249" y="5722"/>
                  <a:pt x="20329" y="14302"/>
                </a:cubicBezTo>
              </a:path>
              <a:path w="20330" h="21600" stroke="0" extrusionOk="0">
                <a:moveTo>
                  <a:pt x="-1" y="0"/>
                </a:moveTo>
                <a:cubicBezTo>
                  <a:pt x="9115" y="0"/>
                  <a:pt x="17249" y="5722"/>
                  <a:pt x="20329" y="14302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Arc 5"/>
          <p:cNvSpPr/>
          <p:nvPr/>
        </p:nvSpPr>
        <p:spPr bwMode="auto">
          <a:xfrm rot="2334890">
            <a:off x="2466996" y="2484438"/>
            <a:ext cx="914400" cy="941387"/>
          </a:xfrm>
          <a:custGeom>
            <a:avLst/>
            <a:gdLst>
              <a:gd name="G0" fmla="+- 0 0 0"/>
              <a:gd name="G1" fmla="+- 21019 0 0"/>
              <a:gd name="G2" fmla="+- 21600 0 0"/>
              <a:gd name="T0" fmla="*/ 4977 w 21600"/>
              <a:gd name="T1" fmla="*/ 0 h 22194"/>
              <a:gd name="T2" fmla="*/ 21568 w 21600"/>
              <a:gd name="T3" fmla="*/ 22194 h 22194"/>
              <a:gd name="T4" fmla="*/ 0 w 21600"/>
              <a:gd name="T5" fmla="*/ 21019 h 22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194" fill="none" extrusionOk="0">
                <a:moveTo>
                  <a:pt x="4976" y="0"/>
                </a:moveTo>
                <a:cubicBezTo>
                  <a:pt x="14719" y="2307"/>
                  <a:pt x="21600" y="11006"/>
                  <a:pt x="21600" y="21019"/>
                </a:cubicBezTo>
                <a:cubicBezTo>
                  <a:pt x="21600" y="21410"/>
                  <a:pt x="21589" y="21802"/>
                  <a:pt x="21568" y="22194"/>
                </a:cubicBezTo>
              </a:path>
              <a:path w="21600" h="22194" stroke="0" extrusionOk="0">
                <a:moveTo>
                  <a:pt x="4976" y="0"/>
                </a:moveTo>
                <a:cubicBezTo>
                  <a:pt x="14719" y="2307"/>
                  <a:pt x="21600" y="11006"/>
                  <a:pt x="21600" y="21019"/>
                </a:cubicBezTo>
                <a:cubicBezTo>
                  <a:pt x="21600" y="21410"/>
                  <a:pt x="21589" y="21802"/>
                  <a:pt x="21568" y="22194"/>
                </a:cubicBezTo>
                <a:lnTo>
                  <a:pt x="0" y="21019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 flipH="1">
            <a:off x="2781321" y="27352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 flipH="1">
            <a:off x="2781321" y="33448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 flipH="1">
            <a:off x="4219596" y="3040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3213121" y="1895475"/>
            <a:ext cx="963725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2405084" y="2514600"/>
            <a:ext cx="41069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405084" y="3124200"/>
            <a:ext cx="397866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4676796" y="2819400"/>
            <a:ext cx="377026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6032521" y="2124075"/>
            <a:ext cx="1181734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 Y  Z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0  0  1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0  1  0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1  0  0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1  1  0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5857884" y="2643182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6786578" y="2214554"/>
            <a:ext cx="71438" cy="26241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Oval 17"/>
          <p:cNvSpPr>
            <a:spLocks noChangeArrowheads="1"/>
          </p:cNvSpPr>
          <p:nvPr/>
        </p:nvSpPr>
        <p:spPr bwMode="auto">
          <a:xfrm>
            <a:off x="4067196" y="29718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IN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2314596" y="3838575"/>
            <a:ext cx="2053767" cy="10772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~(X | Y)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nor(Z,X,Y)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3143248"/>
            <a:ext cx="6143668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Exclusive-OR Gate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071670" y="500042"/>
            <a:ext cx="6143668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Exclusive-OR Gate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453210" y="2609850"/>
            <a:ext cx="1139736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Y  Z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Line 125"/>
          <p:cNvSpPr>
            <a:spLocks noChangeShapeType="1"/>
          </p:cNvSpPr>
          <p:nvPr/>
        </p:nvSpPr>
        <p:spPr bwMode="auto">
          <a:xfrm>
            <a:off x="7210448" y="2546350"/>
            <a:ext cx="1587" cy="23320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en-IN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26"/>
          <p:cNvSpPr>
            <a:spLocks noChangeArrowheads="1"/>
          </p:cNvSpPr>
          <p:nvPr/>
        </p:nvSpPr>
        <p:spPr bwMode="auto">
          <a:xfrm>
            <a:off x="2836885" y="2444750"/>
            <a:ext cx="899413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XOR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127"/>
          <p:cNvSpPr>
            <a:spLocks noChangeArrowheads="1"/>
          </p:cNvSpPr>
          <p:nvPr/>
        </p:nvSpPr>
        <p:spPr bwMode="auto">
          <a:xfrm>
            <a:off x="2074885" y="2971800"/>
            <a:ext cx="282129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128"/>
          <p:cNvSpPr>
            <a:spLocks noChangeArrowheads="1"/>
          </p:cNvSpPr>
          <p:nvPr/>
        </p:nvSpPr>
        <p:spPr bwMode="auto">
          <a:xfrm>
            <a:off x="2074885" y="3429000"/>
            <a:ext cx="26609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129"/>
          <p:cNvSpPr>
            <a:spLocks noChangeArrowheads="1"/>
          </p:cNvSpPr>
          <p:nvPr/>
        </p:nvSpPr>
        <p:spPr bwMode="auto">
          <a:xfrm>
            <a:off x="4132285" y="3200400"/>
            <a:ext cx="245260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132"/>
          <p:cNvSpPr>
            <a:spLocks noChangeArrowheads="1"/>
          </p:cNvSpPr>
          <p:nvPr/>
        </p:nvSpPr>
        <p:spPr bwMode="auto">
          <a:xfrm>
            <a:off x="6453210" y="3294063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0 0  0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133"/>
          <p:cNvSpPr>
            <a:spLocks noChangeArrowheads="1"/>
          </p:cNvSpPr>
          <p:nvPr/>
        </p:nvSpPr>
        <p:spPr bwMode="auto">
          <a:xfrm>
            <a:off x="6453210" y="3673475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0 1  1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34"/>
          <p:cNvSpPr>
            <a:spLocks noChangeArrowheads="1"/>
          </p:cNvSpPr>
          <p:nvPr/>
        </p:nvSpPr>
        <p:spPr bwMode="auto">
          <a:xfrm>
            <a:off x="6453210" y="4054475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1 0  1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35"/>
          <p:cNvSpPr>
            <a:spLocks noChangeArrowheads="1"/>
          </p:cNvSpPr>
          <p:nvPr/>
        </p:nvSpPr>
        <p:spPr bwMode="auto">
          <a:xfrm>
            <a:off x="6453210" y="4433888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1 1  0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Line 136"/>
          <p:cNvSpPr>
            <a:spLocks noChangeShapeType="1"/>
          </p:cNvSpPr>
          <p:nvPr/>
        </p:nvSpPr>
        <p:spPr bwMode="auto">
          <a:xfrm>
            <a:off x="6307160" y="3097213"/>
            <a:ext cx="15509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en-IN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7"/>
          <p:cNvSpPr>
            <a:spLocks noChangeArrowheads="1"/>
          </p:cNvSpPr>
          <p:nvPr/>
        </p:nvSpPr>
        <p:spPr bwMode="auto">
          <a:xfrm>
            <a:off x="2209823" y="3924300"/>
            <a:ext cx="2035942" cy="12311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X ^ Y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xor(Z,X,Y)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5" name="Object 138"/>
          <p:cNvGraphicFramePr>
            <a:graphicFrameLocks noChangeAspect="1"/>
          </p:cNvGraphicFramePr>
          <p:nvPr>
            <p:ph idx="1"/>
          </p:nvPr>
        </p:nvGraphicFramePr>
        <p:xfrm>
          <a:off x="2379685" y="2971800"/>
          <a:ext cx="165258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Visio" r:id="rId2" imgW="1975485" imgH="1004570" progId="">
                  <p:embed/>
                </p:oleObj>
              </mc:Choice>
              <mc:Fallback>
                <p:oleObj name="Visio" r:id="rId2" imgW="1975485" imgH="1004570" progId="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79685" y="2971800"/>
                        <a:ext cx="1652588" cy="839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2143108" y="428604"/>
            <a:ext cx="6143668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Exclusive-NOR Gate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349985" y="2352670"/>
            <a:ext cx="1139736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Y  Z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Line 120"/>
          <p:cNvSpPr>
            <a:spLocks noChangeShapeType="1"/>
          </p:cNvSpPr>
          <p:nvPr/>
        </p:nvSpPr>
        <p:spPr bwMode="auto">
          <a:xfrm>
            <a:off x="7107223" y="2289170"/>
            <a:ext cx="1587" cy="23320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en-IN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21"/>
          <p:cNvSpPr>
            <a:spLocks noChangeArrowheads="1"/>
          </p:cNvSpPr>
          <p:nvPr/>
        </p:nvSpPr>
        <p:spPr bwMode="auto">
          <a:xfrm>
            <a:off x="2733660" y="2187570"/>
            <a:ext cx="1255152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XNOR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122"/>
          <p:cNvSpPr>
            <a:spLocks noChangeArrowheads="1"/>
          </p:cNvSpPr>
          <p:nvPr/>
        </p:nvSpPr>
        <p:spPr bwMode="auto">
          <a:xfrm>
            <a:off x="2124060" y="2714620"/>
            <a:ext cx="282129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123"/>
          <p:cNvSpPr>
            <a:spLocks noChangeArrowheads="1"/>
          </p:cNvSpPr>
          <p:nvPr/>
        </p:nvSpPr>
        <p:spPr bwMode="auto">
          <a:xfrm>
            <a:off x="2124060" y="3171820"/>
            <a:ext cx="26609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124"/>
          <p:cNvSpPr>
            <a:spLocks noChangeArrowheads="1"/>
          </p:cNvSpPr>
          <p:nvPr/>
        </p:nvSpPr>
        <p:spPr bwMode="auto">
          <a:xfrm>
            <a:off x="4181460" y="2943220"/>
            <a:ext cx="245260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126"/>
          <p:cNvSpPr>
            <a:spLocks noChangeArrowheads="1"/>
          </p:cNvSpPr>
          <p:nvPr/>
        </p:nvSpPr>
        <p:spPr bwMode="auto">
          <a:xfrm>
            <a:off x="6349985" y="3036883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0 0  1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127"/>
          <p:cNvSpPr>
            <a:spLocks noChangeArrowheads="1"/>
          </p:cNvSpPr>
          <p:nvPr/>
        </p:nvSpPr>
        <p:spPr bwMode="auto">
          <a:xfrm>
            <a:off x="6349985" y="3416295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0 1  0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28"/>
          <p:cNvSpPr>
            <a:spLocks noChangeArrowheads="1"/>
          </p:cNvSpPr>
          <p:nvPr/>
        </p:nvSpPr>
        <p:spPr bwMode="auto">
          <a:xfrm>
            <a:off x="6349985" y="3797295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1 0  0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29"/>
          <p:cNvSpPr>
            <a:spLocks noChangeArrowheads="1"/>
          </p:cNvSpPr>
          <p:nvPr/>
        </p:nvSpPr>
        <p:spPr bwMode="auto">
          <a:xfrm>
            <a:off x="6349985" y="4176708"/>
            <a:ext cx="1125308" cy="6155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1 1  1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Line 130"/>
          <p:cNvSpPr>
            <a:spLocks noChangeShapeType="1"/>
          </p:cNvSpPr>
          <p:nvPr/>
        </p:nvSpPr>
        <p:spPr bwMode="auto">
          <a:xfrm>
            <a:off x="6203935" y="3028715"/>
            <a:ext cx="15509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en-IN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1"/>
          <p:cNvSpPr>
            <a:spLocks noChangeArrowheads="1"/>
          </p:cNvSpPr>
          <p:nvPr/>
        </p:nvSpPr>
        <p:spPr bwMode="auto">
          <a:xfrm>
            <a:off x="2106598" y="3736970"/>
            <a:ext cx="2340384" cy="18466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~(X ^ Y)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 = X ~^ Y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xnor(Z,X,Y)</a:t>
            </a:r>
            <a:endParaRPr lang="en-US" sz="4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5" name="Object 132"/>
          <p:cNvGraphicFramePr>
            <a:graphicFrameLocks noChangeAspect="1"/>
          </p:cNvGraphicFramePr>
          <p:nvPr>
            <p:ph idx="1"/>
          </p:nvPr>
        </p:nvGraphicFramePr>
        <p:xfrm>
          <a:off x="2428860" y="2714620"/>
          <a:ext cx="165258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Visio" r:id="rId2" imgW="1975485" imgH="1004570" progId="">
                  <p:embed/>
                </p:oleObj>
              </mc:Choice>
              <mc:Fallback>
                <p:oleObj name="Visio" r:id="rId2" imgW="1975485" imgH="1004570" progId="">
                  <p:embed/>
                  <p:pic>
                    <p:nvPicPr>
                      <p:cNvPr id="0" name="Picture 204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8860" y="2714620"/>
                        <a:ext cx="1652588" cy="839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1714480" y="3429000"/>
            <a:ext cx="6786610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CONSUMPTION OF SYSTEM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9" y="571480"/>
            <a:ext cx="6643734" cy="71438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rgbClr val="FFFF00"/>
                </a:solidFill>
              </a:rPr>
              <a:t>Basic Theorem of Boolean Algebra</a:t>
            </a:r>
            <a:endParaRPr lang="en-US" sz="3200" b="1" dirty="0" smtClean="0">
              <a:solidFill>
                <a:srgbClr val="FFFF00"/>
              </a:solidFill>
            </a:endParaRPr>
          </a:p>
        </p:txBody>
      </p:sp>
      <p:sp>
        <p:nvSpPr>
          <p:cNvPr id="36867" name="Line 4"/>
          <p:cNvSpPr>
            <a:spLocks noChangeShapeType="1"/>
          </p:cNvSpPr>
          <p:nvPr/>
        </p:nvSpPr>
        <p:spPr bwMode="auto">
          <a:xfrm>
            <a:off x="7435850" y="4848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6868" name="Rectangle 7"/>
          <p:cNvSpPr>
            <a:spLocks noChangeArrowheads="1"/>
          </p:cNvSpPr>
          <p:nvPr/>
        </p:nvSpPr>
        <p:spPr bwMode="auto">
          <a:xfrm>
            <a:off x="1928794" y="1857375"/>
            <a:ext cx="6529406" cy="4211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 : Properties of 0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+ A = A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A = 0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 : Properties of 1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+ A = 1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A = A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8" y="428605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Basic Theorem of Boolean Algebra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37891" name="Line 3"/>
          <p:cNvSpPr>
            <a:spLocks noChangeShapeType="1"/>
          </p:cNvSpPr>
          <p:nvPr/>
        </p:nvSpPr>
        <p:spPr bwMode="auto">
          <a:xfrm>
            <a:off x="7435850" y="4848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7892" name="Rectangle 5"/>
          <p:cNvSpPr>
            <a:spLocks noChangeArrowheads="1"/>
          </p:cNvSpPr>
          <p:nvPr/>
        </p:nvSpPr>
        <p:spPr bwMode="auto">
          <a:xfrm>
            <a:off x="1428728" y="1412875"/>
            <a:ext cx="7029472" cy="50167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r>
              <a:rPr 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T3 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Commutative Law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B = B + A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B = B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T4 : Associate Law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+ B) + C = A + (B +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B) C = A (B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T5 : Distributive Law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(B + C) = A B + A C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(B C) = (A + B) (A +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A+A’B = 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A+B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7435850" y="48482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357290" y="2041525"/>
            <a:ext cx="7100910" cy="40318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T6 : </a:t>
            </a:r>
            <a:r>
              <a:rPr lang="en-US" sz="3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Indempotence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(Identity ) Law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A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32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T7 : Absorption (</a:t>
            </a:r>
            <a:r>
              <a:rPr lang="en-US" sz="3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Redundance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Law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A B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(A + B)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8" y="428605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Basic Theorem of Boolean Algebra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285852" y="1828800"/>
            <a:ext cx="7172348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342900" indent="-342900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T8 : Complementary Law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X+X’=1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X.X’=0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T9 : Involution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 x’’   = x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T10 : De Morgan's Theorem </a:t>
            </a:r>
            <a:endParaRPr 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(X+Y)’=X’.Y’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(X.Y)’=X’+Y’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8" y="428605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Basic Theorem of Boolean Algebra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3357562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1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1026" name="Picture 2" descr="De Morgan Theorem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12" y="2643182"/>
            <a:ext cx="4776750" cy="2000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5" name="Group 14"/>
          <p:cNvGrpSpPr/>
          <p:nvPr/>
        </p:nvGrpSpPr>
        <p:grpSpPr>
          <a:xfrm>
            <a:off x="1643042" y="1428736"/>
            <a:ext cx="4857784" cy="584775"/>
            <a:chOff x="1643042" y="1428736"/>
            <a:chExt cx="4857784" cy="584775"/>
          </a:xfrm>
        </p:grpSpPr>
        <p:sp>
          <p:nvSpPr>
            <p:cNvPr id="4" name="Rectangle 3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1  A . B = A +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78631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1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55298" name="Picture 2" descr="C:\Users\AdmOfficer\Desktop\dtherom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000240"/>
            <a:ext cx="7295080" cy="4429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oup 5"/>
          <p:cNvGrpSpPr/>
          <p:nvPr/>
        </p:nvGrpSpPr>
        <p:grpSpPr>
          <a:xfrm>
            <a:off x="1643042" y="1285860"/>
            <a:ext cx="4857784" cy="584775"/>
            <a:chOff x="1643042" y="1428736"/>
            <a:chExt cx="4857784" cy="584775"/>
          </a:xfrm>
        </p:grpSpPr>
        <p:sp>
          <p:nvSpPr>
            <p:cNvPr id="7" name="Rectangle 6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1  A . B = A +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78631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1 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56322" name="Picture 2" descr="De Morgan Theorem 1 Verification Tab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2500306"/>
            <a:ext cx="6548780" cy="3643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/>
          <p:cNvGrpSpPr/>
          <p:nvPr/>
        </p:nvGrpSpPr>
        <p:grpSpPr>
          <a:xfrm>
            <a:off x="1643042" y="1428736"/>
            <a:ext cx="4857784" cy="584775"/>
            <a:chOff x="1643042" y="1428736"/>
            <a:chExt cx="4857784" cy="584775"/>
          </a:xfrm>
        </p:grpSpPr>
        <p:sp>
          <p:nvSpPr>
            <p:cNvPr id="8" name="Rectangle 7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1  A . B = A +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78631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42" y="3143248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 2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285984" y="4214818"/>
            <a:ext cx="4857784" cy="584775"/>
            <a:chOff x="1643042" y="1428736"/>
            <a:chExt cx="4857784" cy="584775"/>
          </a:xfrm>
        </p:grpSpPr>
        <p:sp>
          <p:nvSpPr>
            <p:cNvPr id="8" name="Rectangle 7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1  A + B = A .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78631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 2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57346" name="Picture 2" descr="De Morgan Theorem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02" y="3071810"/>
            <a:ext cx="4356739" cy="2000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6"/>
          <p:cNvGrpSpPr/>
          <p:nvPr/>
        </p:nvGrpSpPr>
        <p:grpSpPr>
          <a:xfrm>
            <a:off x="1928794" y="1571612"/>
            <a:ext cx="4857784" cy="584775"/>
            <a:chOff x="1643042" y="1428736"/>
            <a:chExt cx="4857784" cy="584775"/>
          </a:xfrm>
        </p:grpSpPr>
        <p:sp>
          <p:nvSpPr>
            <p:cNvPr id="13" name="Rectangle 12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2  A + B = A .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857752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 2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928794" y="1571612"/>
            <a:ext cx="4857784" cy="584775"/>
            <a:chOff x="1643042" y="1428736"/>
            <a:chExt cx="4857784" cy="584775"/>
          </a:xfrm>
        </p:grpSpPr>
        <p:sp>
          <p:nvSpPr>
            <p:cNvPr id="13" name="Rectangle 12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2  A + B = A .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857752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58370" name="Picture 2" descr="De Morgan Theorem 2 Diagra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2571744"/>
            <a:ext cx="5072098" cy="3795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428604"/>
            <a:ext cx="7143744" cy="6429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Morgan's Theorem  2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928794" y="1571612"/>
            <a:ext cx="4857784" cy="584775"/>
            <a:chOff x="1643042" y="1428736"/>
            <a:chExt cx="4857784" cy="584775"/>
          </a:xfrm>
        </p:grpSpPr>
        <p:sp>
          <p:nvSpPr>
            <p:cNvPr id="13" name="Rectangle 12"/>
            <p:cNvSpPr/>
            <p:nvPr/>
          </p:nvSpPr>
          <p:spPr>
            <a:xfrm>
              <a:off x="1643042" y="1428736"/>
              <a:ext cx="48577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2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Theorem 2  A + B = A . B</a:t>
              </a:r>
              <a:endPara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757154" y="1472278"/>
              <a:ext cx="714380" cy="119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415874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929190" y="1500174"/>
              <a:ext cx="357190" cy="15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60418" name="Picture 2" descr="De Morgan Theorem 2 Verification Tab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7" y="2571744"/>
            <a:ext cx="6420373" cy="3571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480" y="3000372"/>
            <a:ext cx="6643734" cy="1143008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US" sz="4400" b="1" i="1" u="sng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i="1" u="sng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5448</Words>
  <Application>WPS Presentation</Application>
  <PresentationFormat>On-screen Show (4:3)</PresentationFormat>
  <Paragraphs>445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Arial</vt:lpstr>
      <vt:lpstr>SimSun</vt:lpstr>
      <vt:lpstr>Wingdings</vt:lpstr>
      <vt:lpstr>Calibri</vt:lpstr>
      <vt:lpstr>Microsoft YaHei</vt:lpstr>
      <vt:lpstr>Arial Unicode MS</vt:lpstr>
      <vt:lpstr>Verdana</vt:lpstr>
      <vt:lpstr>Times New Roman</vt:lpstr>
      <vt:lpstr>Office Theme</vt:lpstr>
      <vt:lpstr>BOOLEAN ALGEBRA</vt:lpstr>
      <vt:lpstr>INTRODUCTION</vt:lpstr>
      <vt:lpstr>APPLICATION OF BOOLEAN ALGEBRA</vt:lpstr>
      <vt:lpstr>APPLICATION OF BOOLEAN ALGEBRA</vt:lpstr>
      <vt:lpstr>AND operator</vt:lpstr>
      <vt:lpstr>OR operator</vt:lpstr>
      <vt:lpstr>NOT operator</vt:lpstr>
      <vt:lpstr>Truth Table</vt:lpstr>
      <vt:lpstr>Truth Table</vt:lpstr>
      <vt:lpstr>Tautology &amp; Fallacy</vt:lpstr>
      <vt:lpstr>Tautology &amp; Fallacy</vt:lpstr>
      <vt:lpstr>Exercise</vt:lpstr>
      <vt:lpstr>Implementation</vt:lpstr>
      <vt:lpstr>Logic Gate</vt:lpstr>
      <vt:lpstr>Logic Gate</vt:lpstr>
      <vt:lpstr>AND gate</vt:lpstr>
      <vt:lpstr>AND gate</vt:lpstr>
      <vt:lpstr>OR gate</vt:lpstr>
      <vt:lpstr>OR gate</vt:lpstr>
      <vt:lpstr>NOT gate</vt:lpstr>
      <vt:lpstr>NOT gate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Basic Theorem of Boolean Algebra</vt:lpstr>
      <vt:lpstr>Basic Theorem of Boolean Algebra</vt:lpstr>
      <vt:lpstr>Basic Theorem of Boolean Algebra</vt:lpstr>
      <vt:lpstr>Basic Theorem of Boolean Algebra</vt:lpstr>
      <vt:lpstr>De Morgan's Theorem</vt:lpstr>
      <vt:lpstr>De Morgan's Theorem 1</vt:lpstr>
      <vt:lpstr>De Morgan's Theorem 1</vt:lpstr>
      <vt:lpstr>De Morgan's Theorem 1 </vt:lpstr>
      <vt:lpstr>De Morgan's Theorem  2</vt:lpstr>
      <vt:lpstr>De Morgan's Theorem  2</vt:lpstr>
      <vt:lpstr>De Morgan's Theorem  2</vt:lpstr>
      <vt:lpstr>De Morgan's Theorem  2</vt:lpstr>
      <vt:lpstr>Thank You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satish jain</cp:lastModifiedBy>
  <cp:revision>782</cp:revision>
  <dcterms:created xsi:type="dcterms:W3CDTF">2013-08-21T19:17:00Z</dcterms:created>
  <dcterms:modified xsi:type="dcterms:W3CDTF">2025-11-13T14:25:44Z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93670E7212924C9C9304C5FE87CF19B0_12</vt:lpwstr>
  </property>
  <property fmtid="{D5CDD505-2E9C-101B-9397-08002B2CF9AE}" pid="3" name="KSOProductBuildVer">
    <vt:lpwstr>1033-12.2.0.23155</vt:lpwstr>
  </property>
</Properties>
</file>